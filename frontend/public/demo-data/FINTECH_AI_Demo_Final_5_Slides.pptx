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0:00–0:45 | Problem and users. We built FINTECH AI for auditors and finance-control teams. Spreadsheets contain many ordinary expenses and a few items worth checking, but a flag alone is not an investigation. Our goal is to put the original record, the screening evidence and the human decision together. We do not claim to detect fraud or replace an auditor. Transition: here is the workflow we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0:45–1:40 | Workflow. Import a CSV; accepted rows go into SQLite and rejected rows are reported. Screening is deterministic: repeated payment reference, or matching supplier, amount and date. These are possible duplicates, not proven duplicates. Gemma explains supplied evidence only; the server replaces any model-authored observed evidence with authoritative rule evidence before saving. The auditor chooses confirmed, dismissed or needs_review and the API persists the decision, reviewer, notes and time. AI failure does not stop importing or reviewing.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1:40–2:40 | Technical implementation. Next.js and React call same-origin proxy routes into FastAPI, Pydantic, HTTPX and SQLite. The app is currently configured for Google AI Studio model gemma-4-26b-a4b-it; it is Gemma, not a Gemini substitution. Local Ollama also runs gemma4:latest, a 7.5B Q4 model with roughly 6.6 GB of weights, reachable through the tunnel's /ollama endpoint. Both paths returned successful public requests. Provider selection supports local, cloud and local_then_cloud. Keys stay server-side in ignored .env, not the repo. Three backend tests passed. Separate analysis reports show 100 accepted rows, 6 duplicate rows and 34 anomalies; these are sample outputs, not an accuracy benchmark, and that broader pipeline is not yet called by upload.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2:40–4:10 | Live demo. Open https://ranks-atlanta-formerly-diverse.trycloudflare.com/dashboard and show the current summary. Upload 01_mixed_office_transactions.csv from demo-data. Go to Anomalies &amp; AI; choose a new office-furniture or maintenance candidate. Show source evidence first, then click Explain to call Google-hosted Gemma. Allow around 35 seconds based on one earlier request, not an SLA. Save a review and refresh. If time permits, upload file 03: expect 16 accepted and 4 rejected for invalid amount, zero, negative and missing date. File 02 is an alternate retail example. Local-model request: POST /ollama/api/generate with JSON {"model":"gemma4:latest","prompt":"Explain duplicate payments briefly.","stream":false,"think":false}. A previous short local response took about 18 seconds; latency varies. Do not upload the same file repeatedly unless deliberately demonstrating repeated imports. If inference fails, show evidence and the review flow rather than claiming the AI succeeded. The tunnel is temporary and scheduled to stop an hour after launch.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4:10–5:00 | Impact, source and next steps. The working deliverable is traceable review, not a measured productivity or fraud-accuracy claim. The public GitHub repo includes the UI, API, broader data pipeline, reports and demo data. An explicit team-approved license is still missing, so be precise: public source today; licensed open-source release is a remaining action. DigitalOcean is a researched self-hosted option, not deployed infrastructure. We would benchmark a 20 GB GPU, run Ollama privately and persist weights for occasional windows; Google-hosted cloud inference already works today. Next: full pipeline adapter, license, access controls and rate limits, then evaluate triage time and review completeness. Close: AI assists; evidence and the auditor decide.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425"/>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AD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0972800" cy="228600"/>
          </a:xfrm>
          <a:prstGeom prst="rect">
            <a:avLst/>
          </a:prstGeom>
          <a:noFill/>
        </p:spPr>
        <p:txBody>
          <a:bodyPr wrap="square" lIns="18288" rIns="18288" tIns="18288" bIns="18288">
            <a:spAutoFit/>
          </a:bodyPr>
          <a:lstStyle/>
          <a:p>
            <a:pPr>
              <a:defRPr sz="1000" b="1">
                <a:solidFill>
                  <a:srgbClr val="3ADCBE"/>
                </a:solidFill>
                <a:latin typeface="Aptos"/>
              </a:defRPr>
            </a:pPr>
            <a:r>
              <a:t>FINANCIAL AUDIT MVP</a:t>
            </a:r>
          </a:p>
        </p:txBody>
      </p:sp>
      <p:sp>
        <p:nvSpPr>
          <p:cNvPr id="4" name="TextBox 3"/>
          <p:cNvSpPr txBox="1"/>
          <p:nvPr/>
        </p:nvSpPr>
        <p:spPr>
          <a:xfrm>
            <a:off x="594360" y="621792"/>
            <a:ext cx="10972800" cy="594360"/>
          </a:xfrm>
          <a:prstGeom prst="rect">
            <a:avLst/>
          </a:prstGeom>
          <a:noFill/>
        </p:spPr>
        <p:txBody>
          <a:bodyPr wrap="square" lIns="18288" rIns="18288" tIns="18288" bIns="18288">
            <a:spAutoFit/>
          </a:bodyPr>
          <a:lstStyle/>
          <a:p>
            <a:pPr>
              <a:defRPr sz="2800" b="1">
                <a:solidFill>
                  <a:srgbClr val="F0F6FA"/>
                </a:solidFill>
                <a:latin typeface="Aptos"/>
              </a:defRPr>
            </a:pPr>
            <a:r>
              <a:t>Find the signal. Keep the auditor in control.</a:t>
            </a:r>
          </a:p>
        </p:txBody>
      </p:sp>
      <p:sp>
        <p:nvSpPr>
          <p:cNvPr id="5" name="TextBox 4"/>
          <p:cNvSpPr txBox="1"/>
          <p:nvPr/>
        </p:nvSpPr>
        <p:spPr>
          <a:xfrm>
            <a:off x="612648" y="1234440"/>
            <a:ext cx="10972800" cy="365760"/>
          </a:xfrm>
          <a:prstGeom prst="rect">
            <a:avLst/>
          </a:prstGeom>
          <a:noFill/>
        </p:spPr>
        <p:txBody>
          <a:bodyPr wrap="square" lIns="18288" rIns="18288" tIns="18288" bIns="18288">
            <a:spAutoFit/>
          </a:bodyPr>
          <a:lstStyle/>
          <a:p>
            <a:pPr>
              <a:defRPr sz="1300" b="0">
                <a:solidFill>
                  <a:srgbClr val="A4B7C9"/>
                </a:solidFill>
                <a:latin typeface="Aptos"/>
              </a:defRPr>
            </a:pPr>
            <a:r>
              <a:t>FINTECH AI — Digital Surfers | Evidence-led investigation of unusual financial transactions</a:t>
            </a:r>
          </a:p>
        </p:txBody>
      </p:sp>
      <p:sp>
        <p:nvSpPr>
          <p:cNvPr id="6" name="TextBox 5"/>
          <p:cNvSpPr txBox="1"/>
          <p:nvPr/>
        </p:nvSpPr>
        <p:spPr>
          <a:xfrm>
            <a:off x="621792" y="6537960"/>
            <a:ext cx="9144000" cy="182880"/>
          </a:xfrm>
          <a:prstGeom prst="rect">
            <a:avLst/>
          </a:prstGeom>
          <a:noFill/>
        </p:spPr>
        <p:txBody>
          <a:bodyPr wrap="square" lIns="18288" rIns="18288" tIns="18288" bIns="18288">
            <a:spAutoFit/>
          </a:bodyPr>
          <a:lstStyle/>
          <a:p>
            <a:pPr>
              <a:defRPr sz="900" b="0">
                <a:solidFill>
                  <a:srgbClr val="A4B7C9"/>
                </a:solidFill>
                <a:latin typeface="Aptos"/>
              </a:defRPr>
            </a:pPr>
            <a:r>
              <a:t>FINTECH AI  /  DIGITAL SURFERS</a:t>
            </a:r>
          </a:p>
        </p:txBody>
      </p:sp>
      <p:sp>
        <p:nvSpPr>
          <p:cNvPr id="7" name="TextBox 6"/>
          <p:cNvSpPr txBox="1"/>
          <p:nvPr/>
        </p:nvSpPr>
        <p:spPr>
          <a:xfrm>
            <a:off x="11064240" y="6510528"/>
            <a:ext cx="457200" cy="182880"/>
          </a:xfrm>
          <a:prstGeom prst="rect">
            <a:avLst/>
          </a:prstGeom>
          <a:noFill/>
        </p:spPr>
        <p:txBody>
          <a:bodyPr wrap="square" lIns="18288" rIns="18288" tIns="18288" bIns="18288">
            <a:spAutoFit/>
          </a:bodyPr>
          <a:lstStyle/>
          <a:p>
            <a:pPr algn="r">
              <a:defRPr sz="900" b="1">
                <a:solidFill>
                  <a:srgbClr val="3ADCBE"/>
                </a:solidFill>
                <a:latin typeface="Aptos"/>
              </a:defRPr>
            </a:pPr>
            <a:r>
              <a:t>1/5</a:t>
            </a:r>
          </a:p>
        </p:txBody>
      </p:sp>
      <p:sp>
        <p:nvSpPr>
          <p:cNvPr id="8" name="Rounded Rectangle 7"/>
          <p:cNvSpPr/>
          <p:nvPr/>
        </p:nvSpPr>
        <p:spPr>
          <a:xfrm>
            <a:off x="685800" y="1874519"/>
            <a:ext cx="5257800" cy="4069080"/>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48840"/>
            <a:ext cx="4572000" cy="274320"/>
          </a:xfrm>
          <a:prstGeom prst="rect">
            <a:avLst/>
          </a:prstGeom>
          <a:noFill/>
        </p:spPr>
        <p:txBody>
          <a:bodyPr wrap="square" lIns="18288" rIns="18288" tIns="18288" bIns="18288">
            <a:spAutoFit/>
          </a:bodyPr>
          <a:lstStyle/>
          <a:p>
            <a:pPr>
              <a:defRPr sz="1300" b="1">
                <a:solidFill>
                  <a:srgbClr val="FFC15E"/>
                </a:solidFill>
                <a:latin typeface="Aptos"/>
              </a:defRPr>
            </a:pPr>
            <a:r>
              <a:t>THE PROBLEM</a:t>
            </a:r>
          </a:p>
        </p:txBody>
      </p:sp>
      <p:sp>
        <p:nvSpPr>
          <p:cNvPr id="10" name="TextBox 9"/>
          <p:cNvSpPr txBox="1"/>
          <p:nvPr/>
        </p:nvSpPr>
        <p:spPr>
          <a:xfrm>
            <a:off x="960120" y="2697480"/>
            <a:ext cx="201168" cy="274320"/>
          </a:xfrm>
          <a:prstGeom prst="rect">
            <a:avLst/>
          </a:prstGeom>
          <a:noFill/>
        </p:spPr>
        <p:txBody>
          <a:bodyPr wrap="square" lIns="18288" rIns="18288" tIns="18288" bIns="18288">
            <a:spAutoFit/>
          </a:bodyPr>
          <a:lstStyle/>
          <a:p>
            <a:pPr>
              <a:defRPr sz="1800" b="1">
                <a:solidFill>
                  <a:srgbClr val="3ADCBE"/>
                </a:solidFill>
                <a:latin typeface="Aptos"/>
              </a:defRPr>
            </a:pPr>
            <a:r>
              <a:t>•</a:t>
            </a:r>
          </a:p>
        </p:txBody>
      </p:sp>
      <p:sp>
        <p:nvSpPr>
          <p:cNvPr id="11" name="TextBox 10"/>
          <p:cNvSpPr txBox="1"/>
          <p:nvPr/>
        </p:nvSpPr>
        <p:spPr>
          <a:xfrm>
            <a:off x="1207008" y="2697480"/>
            <a:ext cx="4370831" cy="822960"/>
          </a:xfrm>
          <a:prstGeom prst="rect">
            <a:avLst/>
          </a:prstGeom>
          <a:noFill/>
        </p:spPr>
        <p:txBody>
          <a:bodyPr wrap="square" lIns="18288" rIns="18288" tIns="18288" bIns="18288">
            <a:spAutoFit/>
          </a:bodyPr>
          <a:lstStyle/>
          <a:p>
            <a:pPr>
              <a:defRPr sz="1600" b="0">
                <a:solidFill>
                  <a:srgbClr val="F0F6FA"/>
                </a:solidFill>
                <a:latin typeface="Aptos"/>
              </a:defRPr>
            </a:pPr>
            <a:r>
              <a:t>High-volume transaction spreadsheets make unusual items hard to spot.</a:t>
            </a:r>
          </a:p>
        </p:txBody>
      </p:sp>
      <p:sp>
        <p:nvSpPr>
          <p:cNvPr id="12" name="TextBox 11"/>
          <p:cNvSpPr txBox="1"/>
          <p:nvPr/>
        </p:nvSpPr>
        <p:spPr>
          <a:xfrm>
            <a:off x="960120" y="3502152"/>
            <a:ext cx="201168" cy="274320"/>
          </a:xfrm>
          <a:prstGeom prst="rect">
            <a:avLst/>
          </a:prstGeom>
          <a:noFill/>
        </p:spPr>
        <p:txBody>
          <a:bodyPr wrap="square" lIns="18288" rIns="18288" tIns="18288" bIns="18288">
            <a:spAutoFit/>
          </a:bodyPr>
          <a:lstStyle/>
          <a:p>
            <a:pPr>
              <a:defRPr sz="1800" b="1">
                <a:solidFill>
                  <a:srgbClr val="3ADCBE"/>
                </a:solidFill>
                <a:latin typeface="Aptos"/>
              </a:defRPr>
            </a:pPr>
            <a:r>
              <a:t>•</a:t>
            </a:r>
          </a:p>
        </p:txBody>
      </p:sp>
      <p:sp>
        <p:nvSpPr>
          <p:cNvPr id="13" name="TextBox 12"/>
          <p:cNvSpPr txBox="1"/>
          <p:nvPr/>
        </p:nvSpPr>
        <p:spPr>
          <a:xfrm>
            <a:off x="1207008" y="3502152"/>
            <a:ext cx="4370831" cy="822960"/>
          </a:xfrm>
          <a:prstGeom prst="rect">
            <a:avLst/>
          </a:prstGeom>
          <a:noFill/>
        </p:spPr>
        <p:txBody>
          <a:bodyPr wrap="square" lIns="18288" rIns="18288" tIns="18288" bIns="18288">
            <a:spAutoFit/>
          </a:bodyPr>
          <a:lstStyle/>
          <a:p>
            <a:pPr>
              <a:defRPr sz="1600" b="0">
                <a:solidFill>
                  <a:srgbClr val="F0F6FA"/>
                </a:solidFill>
                <a:latin typeface="Aptos"/>
              </a:defRPr>
            </a:pPr>
            <a:r>
              <a:t>A raw anomaly flag lacks context and follow-up evidence.</a:t>
            </a:r>
          </a:p>
        </p:txBody>
      </p:sp>
      <p:sp>
        <p:nvSpPr>
          <p:cNvPr id="14" name="TextBox 13"/>
          <p:cNvSpPr txBox="1"/>
          <p:nvPr/>
        </p:nvSpPr>
        <p:spPr>
          <a:xfrm>
            <a:off x="960120" y="4306824"/>
            <a:ext cx="201168" cy="274320"/>
          </a:xfrm>
          <a:prstGeom prst="rect">
            <a:avLst/>
          </a:prstGeom>
          <a:noFill/>
        </p:spPr>
        <p:txBody>
          <a:bodyPr wrap="square" lIns="18288" rIns="18288" tIns="18288" bIns="18288">
            <a:spAutoFit/>
          </a:bodyPr>
          <a:lstStyle/>
          <a:p>
            <a:pPr>
              <a:defRPr sz="1800" b="1">
                <a:solidFill>
                  <a:srgbClr val="3ADCBE"/>
                </a:solidFill>
                <a:latin typeface="Aptos"/>
              </a:defRPr>
            </a:pPr>
            <a:r>
              <a:t>•</a:t>
            </a:r>
          </a:p>
        </p:txBody>
      </p:sp>
      <p:sp>
        <p:nvSpPr>
          <p:cNvPr id="15" name="TextBox 14"/>
          <p:cNvSpPr txBox="1"/>
          <p:nvPr/>
        </p:nvSpPr>
        <p:spPr>
          <a:xfrm>
            <a:off x="1207008" y="4306824"/>
            <a:ext cx="4370831" cy="822960"/>
          </a:xfrm>
          <a:prstGeom prst="rect">
            <a:avLst/>
          </a:prstGeom>
          <a:noFill/>
        </p:spPr>
        <p:txBody>
          <a:bodyPr wrap="square" lIns="18288" rIns="18288" tIns="18288" bIns="18288">
            <a:spAutoFit/>
          </a:bodyPr>
          <a:lstStyle/>
          <a:p>
            <a:pPr>
              <a:defRPr sz="1600" b="0">
                <a:solidFill>
                  <a:srgbClr val="F0F6FA"/>
                </a:solidFill>
                <a:latin typeface="Aptos"/>
              </a:defRPr>
            </a:pPr>
            <a:r>
              <a:t>Review decisions and investigation history need a consistent record.</a:t>
            </a:r>
          </a:p>
        </p:txBody>
      </p:sp>
      <p:sp>
        <p:nvSpPr>
          <p:cNvPr id="16" name="Rounded Rectangle 15"/>
          <p:cNvSpPr/>
          <p:nvPr/>
        </p:nvSpPr>
        <p:spPr>
          <a:xfrm>
            <a:off x="6217920" y="1874519"/>
            <a:ext cx="5257800" cy="4069080"/>
          </a:xfrm>
          <a:prstGeom prst="roundRect">
            <a:avLst/>
          </a:prstGeom>
          <a:solidFill>
            <a:srgbClr val="192D43"/>
          </a:solidFill>
          <a:ln>
            <a:solidFill>
              <a:srgbClr val="192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2148840"/>
            <a:ext cx="4572000" cy="274320"/>
          </a:xfrm>
          <a:prstGeom prst="rect">
            <a:avLst/>
          </a:prstGeom>
          <a:noFill/>
        </p:spPr>
        <p:txBody>
          <a:bodyPr wrap="square" lIns="18288" rIns="18288" tIns="18288" bIns="18288">
            <a:spAutoFit/>
          </a:bodyPr>
          <a:lstStyle/>
          <a:p>
            <a:pPr>
              <a:defRPr sz="1300" b="1">
                <a:solidFill>
                  <a:srgbClr val="3ADCBE"/>
                </a:solidFill>
                <a:latin typeface="Aptos"/>
              </a:defRPr>
            </a:pPr>
            <a:r>
              <a:t>INTENDED USERS</a:t>
            </a:r>
          </a:p>
        </p:txBody>
      </p:sp>
      <p:sp>
        <p:nvSpPr>
          <p:cNvPr id="18" name="TextBox 17"/>
          <p:cNvSpPr txBox="1"/>
          <p:nvPr/>
        </p:nvSpPr>
        <p:spPr>
          <a:xfrm>
            <a:off x="6492240" y="2697480"/>
            <a:ext cx="201168" cy="274320"/>
          </a:xfrm>
          <a:prstGeom prst="rect">
            <a:avLst/>
          </a:prstGeom>
          <a:noFill/>
        </p:spPr>
        <p:txBody>
          <a:bodyPr wrap="square" lIns="18288" rIns="18288" tIns="18288" bIns="18288">
            <a:spAutoFit/>
          </a:bodyPr>
          <a:lstStyle/>
          <a:p>
            <a:pPr>
              <a:defRPr sz="1800" b="1">
                <a:solidFill>
                  <a:srgbClr val="3ADCBE"/>
                </a:solidFill>
                <a:latin typeface="Aptos"/>
              </a:defRPr>
            </a:pPr>
            <a:r>
              <a:t>•</a:t>
            </a:r>
          </a:p>
        </p:txBody>
      </p:sp>
      <p:sp>
        <p:nvSpPr>
          <p:cNvPr id="19" name="TextBox 18"/>
          <p:cNvSpPr txBox="1"/>
          <p:nvPr/>
        </p:nvSpPr>
        <p:spPr>
          <a:xfrm>
            <a:off x="6739127" y="2697480"/>
            <a:ext cx="4370831" cy="822960"/>
          </a:xfrm>
          <a:prstGeom prst="rect">
            <a:avLst/>
          </a:prstGeom>
          <a:noFill/>
        </p:spPr>
        <p:txBody>
          <a:bodyPr wrap="square" lIns="18288" rIns="18288" tIns="18288" bIns="18288">
            <a:spAutoFit/>
          </a:bodyPr>
          <a:lstStyle/>
          <a:p>
            <a:pPr>
              <a:defRPr sz="1600" b="0">
                <a:solidFill>
                  <a:srgbClr val="F0F6FA"/>
                </a:solidFill>
                <a:latin typeface="Aptos"/>
              </a:defRPr>
            </a:pPr>
            <a:r>
              <a:t>Internal / external auditors</a:t>
            </a:r>
          </a:p>
        </p:txBody>
      </p:sp>
      <p:sp>
        <p:nvSpPr>
          <p:cNvPr id="20" name="TextBox 19"/>
          <p:cNvSpPr txBox="1"/>
          <p:nvPr/>
        </p:nvSpPr>
        <p:spPr>
          <a:xfrm>
            <a:off x="6492240" y="3502152"/>
            <a:ext cx="201168" cy="274320"/>
          </a:xfrm>
          <a:prstGeom prst="rect">
            <a:avLst/>
          </a:prstGeom>
          <a:noFill/>
        </p:spPr>
        <p:txBody>
          <a:bodyPr wrap="square" lIns="18288" rIns="18288" tIns="18288" bIns="18288">
            <a:spAutoFit/>
          </a:bodyPr>
          <a:lstStyle/>
          <a:p>
            <a:pPr>
              <a:defRPr sz="1800" b="1">
                <a:solidFill>
                  <a:srgbClr val="3ADCBE"/>
                </a:solidFill>
                <a:latin typeface="Aptos"/>
              </a:defRPr>
            </a:pPr>
            <a:r>
              <a:t>•</a:t>
            </a:r>
          </a:p>
        </p:txBody>
      </p:sp>
      <p:sp>
        <p:nvSpPr>
          <p:cNvPr id="21" name="TextBox 20"/>
          <p:cNvSpPr txBox="1"/>
          <p:nvPr/>
        </p:nvSpPr>
        <p:spPr>
          <a:xfrm>
            <a:off x="6739127" y="3502152"/>
            <a:ext cx="4370831" cy="822960"/>
          </a:xfrm>
          <a:prstGeom prst="rect">
            <a:avLst/>
          </a:prstGeom>
          <a:noFill/>
        </p:spPr>
        <p:txBody>
          <a:bodyPr wrap="square" lIns="18288" rIns="18288" tIns="18288" bIns="18288">
            <a:spAutoFit/>
          </a:bodyPr>
          <a:lstStyle/>
          <a:p>
            <a:pPr>
              <a:defRPr sz="1600" b="0">
                <a:solidFill>
                  <a:srgbClr val="F0F6FA"/>
                </a:solidFill>
                <a:latin typeface="Aptos"/>
              </a:defRPr>
            </a:pPr>
            <a:r>
              <a:t>Finance control and compliance teams</a:t>
            </a:r>
          </a:p>
        </p:txBody>
      </p:sp>
      <p:sp>
        <p:nvSpPr>
          <p:cNvPr id="22" name="TextBox 21"/>
          <p:cNvSpPr txBox="1"/>
          <p:nvPr/>
        </p:nvSpPr>
        <p:spPr>
          <a:xfrm>
            <a:off x="6492240" y="4306824"/>
            <a:ext cx="201168" cy="274320"/>
          </a:xfrm>
          <a:prstGeom prst="rect">
            <a:avLst/>
          </a:prstGeom>
          <a:noFill/>
        </p:spPr>
        <p:txBody>
          <a:bodyPr wrap="square" lIns="18288" rIns="18288" tIns="18288" bIns="18288">
            <a:spAutoFit/>
          </a:bodyPr>
          <a:lstStyle/>
          <a:p>
            <a:pPr>
              <a:defRPr sz="1800" b="1">
                <a:solidFill>
                  <a:srgbClr val="3ADCBE"/>
                </a:solidFill>
                <a:latin typeface="Aptos"/>
              </a:defRPr>
            </a:pPr>
            <a:r>
              <a:t>•</a:t>
            </a:r>
          </a:p>
        </p:txBody>
      </p:sp>
      <p:sp>
        <p:nvSpPr>
          <p:cNvPr id="23" name="TextBox 22"/>
          <p:cNvSpPr txBox="1"/>
          <p:nvPr/>
        </p:nvSpPr>
        <p:spPr>
          <a:xfrm>
            <a:off x="6739127" y="4306824"/>
            <a:ext cx="4370831" cy="822960"/>
          </a:xfrm>
          <a:prstGeom prst="rect">
            <a:avLst/>
          </a:prstGeom>
          <a:noFill/>
        </p:spPr>
        <p:txBody>
          <a:bodyPr wrap="square" lIns="18288" rIns="18288" tIns="18288" bIns="18288">
            <a:spAutoFit/>
          </a:bodyPr>
          <a:lstStyle/>
          <a:p>
            <a:pPr>
              <a:defRPr sz="1600" b="0">
                <a:solidFill>
                  <a:srgbClr val="F0F6FA"/>
                </a:solidFill>
                <a:latin typeface="Aptos"/>
              </a:defRPr>
            </a:pPr>
            <a:r>
              <a:t>Audit leads who need a review trail</a:t>
            </a:r>
          </a:p>
        </p:txBody>
      </p:sp>
      <p:sp>
        <p:nvSpPr>
          <p:cNvPr id="24" name="TextBox 23"/>
          <p:cNvSpPr txBox="1"/>
          <p:nvPr/>
        </p:nvSpPr>
        <p:spPr>
          <a:xfrm>
            <a:off x="960120" y="5440680"/>
            <a:ext cx="9966960" cy="365760"/>
          </a:xfrm>
          <a:prstGeom prst="rect">
            <a:avLst/>
          </a:prstGeom>
          <a:noFill/>
        </p:spPr>
        <p:txBody>
          <a:bodyPr wrap="square" lIns="18288" rIns="18288" tIns="18288" bIns="18288">
            <a:spAutoFit/>
          </a:bodyPr>
          <a:lstStyle/>
          <a:p>
            <a:pPr>
              <a:defRPr sz="1400" b="1">
                <a:solidFill>
                  <a:srgbClr val="3ADCBE"/>
                </a:solidFill>
                <a:latin typeface="Aptos"/>
              </a:defRPr>
            </a:pPr>
            <a:r>
              <a:t>AI assists investigation; it does not decide fraud or replace professional judgment.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425"/>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AD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0972800" cy="228600"/>
          </a:xfrm>
          <a:prstGeom prst="rect">
            <a:avLst/>
          </a:prstGeom>
          <a:noFill/>
        </p:spPr>
        <p:txBody>
          <a:bodyPr wrap="square" lIns="18288" rIns="18288" tIns="18288" bIns="18288">
            <a:spAutoFit/>
          </a:bodyPr>
          <a:lstStyle/>
          <a:p>
            <a:pPr>
              <a:defRPr sz="1000" b="1">
                <a:solidFill>
                  <a:srgbClr val="3ADCBE"/>
                </a:solidFill>
                <a:latin typeface="Aptos"/>
              </a:defRPr>
            </a:pPr>
            <a:r>
              <a:t>PROPOSED SOLUTION</a:t>
            </a:r>
          </a:p>
        </p:txBody>
      </p:sp>
      <p:sp>
        <p:nvSpPr>
          <p:cNvPr id="4" name="TextBox 3"/>
          <p:cNvSpPr txBox="1"/>
          <p:nvPr/>
        </p:nvSpPr>
        <p:spPr>
          <a:xfrm>
            <a:off x="594360" y="621792"/>
            <a:ext cx="10972800" cy="594360"/>
          </a:xfrm>
          <a:prstGeom prst="rect">
            <a:avLst/>
          </a:prstGeom>
          <a:noFill/>
        </p:spPr>
        <p:txBody>
          <a:bodyPr wrap="square" lIns="18288" rIns="18288" tIns="18288" bIns="18288">
            <a:spAutoFit/>
          </a:bodyPr>
          <a:lstStyle/>
          <a:p>
            <a:pPr>
              <a:defRPr sz="2800" b="1">
                <a:solidFill>
                  <a:srgbClr val="F0F6FA"/>
                </a:solidFill>
                <a:latin typeface="Aptos"/>
              </a:defRPr>
            </a:pPr>
            <a:r>
              <a:t>Import → screen → explain → review</a:t>
            </a:r>
          </a:p>
        </p:txBody>
      </p:sp>
      <p:sp>
        <p:nvSpPr>
          <p:cNvPr id="5" name="TextBox 4"/>
          <p:cNvSpPr txBox="1"/>
          <p:nvPr/>
        </p:nvSpPr>
        <p:spPr>
          <a:xfrm>
            <a:off x="612648" y="1234440"/>
            <a:ext cx="10972800" cy="365760"/>
          </a:xfrm>
          <a:prstGeom prst="rect">
            <a:avLst/>
          </a:prstGeom>
          <a:noFill/>
        </p:spPr>
        <p:txBody>
          <a:bodyPr wrap="square" lIns="18288" rIns="18288" tIns="18288" bIns="18288">
            <a:spAutoFit/>
          </a:bodyPr>
          <a:lstStyle/>
          <a:p>
            <a:pPr>
              <a:defRPr sz="1300" b="0">
                <a:solidFill>
                  <a:srgbClr val="A4B7C9"/>
                </a:solidFill>
                <a:latin typeface="Aptos"/>
              </a:defRPr>
            </a:pPr>
            <a:r>
              <a:t>Deterministic data checks work without AI. Gemma is an optional evidence-grounded explanation layer.</a:t>
            </a:r>
          </a:p>
        </p:txBody>
      </p:sp>
      <p:sp>
        <p:nvSpPr>
          <p:cNvPr id="6" name="TextBox 5"/>
          <p:cNvSpPr txBox="1"/>
          <p:nvPr/>
        </p:nvSpPr>
        <p:spPr>
          <a:xfrm>
            <a:off x="621792" y="6537960"/>
            <a:ext cx="9144000" cy="182880"/>
          </a:xfrm>
          <a:prstGeom prst="rect">
            <a:avLst/>
          </a:prstGeom>
          <a:noFill/>
        </p:spPr>
        <p:txBody>
          <a:bodyPr wrap="square" lIns="18288" rIns="18288" tIns="18288" bIns="18288">
            <a:spAutoFit/>
          </a:bodyPr>
          <a:lstStyle/>
          <a:p>
            <a:pPr>
              <a:defRPr sz="900" b="0">
                <a:solidFill>
                  <a:srgbClr val="A4B7C9"/>
                </a:solidFill>
                <a:latin typeface="Aptos"/>
              </a:defRPr>
            </a:pPr>
            <a:r>
              <a:t>FINTECH AI  /  DIGITAL SURFERS</a:t>
            </a:r>
          </a:p>
        </p:txBody>
      </p:sp>
      <p:sp>
        <p:nvSpPr>
          <p:cNvPr id="7" name="TextBox 6"/>
          <p:cNvSpPr txBox="1"/>
          <p:nvPr/>
        </p:nvSpPr>
        <p:spPr>
          <a:xfrm>
            <a:off x="11064240" y="6510528"/>
            <a:ext cx="457200" cy="182880"/>
          </a:xfrm>
          <a:prstGeom prst="rect">
            <a:avLst/>
          </a:prstGeom>
          <a:noFill/>
        </p:spPr>
        <p:txBody>
          <a:bodyPr wrap="square" lIns="18288" rIns="18288" tIns="18288" bIns="18288">
            <a:spAutoFit/>
          </a:bodyPr>
          <a:lstStyle/>
          <a:p>
            <a:pPr algn="r">
              <a:defRPr sz="900" b="1">
                <a:solidFill>
                  <a:srgbClr val="3ADCBE"/>
                </a:solidFill>
                <a:latin typeface="Aptos"/>
              </a:defRPr>
            </a:pPr>
            <a:r>
              <a:t>2/5</a:t>
            </a:r>
          </a:p>
        </p:txBody>
      </p:sp>
      <p:sp>
        <p:nvSpPr>
          <p:cNvPr id="8" name="Rounded Rectangle 7"/>
          <p:cNvSpPr/>
          <p:nvPr/>
        </p:nvSpPr>
        <p:spPr>
          <a:xfrm>
            <a:off x="713232" y="2057400"/>
            <a:ext cx="2606040" cy="1874519"/>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04288"/>
            <a:ext cx="2286000" cy="320040"/>
          </a:xfrm>
          <a:prstGeom prst="rect">
            <a:avLst/>
          </a:prstGeom>
          <a:noFill/>
        </p:spPr>
        <p:txBody>
          <a:bodyPr wrap="square" lIns="18288" rIns="18288" tIns="18288" bIns="18288">
            <a:spAutoFit/>
          </a:bodyPr>
          <a:lstStyle/>
          <a:p>
            <a:pPr>
              <a:defRPr sz="1400" b="1">
                <a:solidFill>
                  <a:srgbClr val="3ADCBE"/>
                </a:solidFill>
                <a:latin typeface="Aptos"/>
              </a:defRPr>
            </a:pPr>
            <a:r>
              <a:t>01  IMPORT</a:t>
            </a:r>
          </a:p>
        </p:txBody>
      </p:sp>
      <p:sp>
        <p:nvSpPr>
          <p:cNvPr id="10" name="TextBox 9"/>
          <p:cNvSpPr txBox="1"/>
          <p:nvPr/>
        </p:nvSpPr>
        <p:spPr>
          <a:xfrm>
            <a:off x="896112" y="2816352"/>
            <a:ext cx="2240280" cy="868680"/>
          </a:xfrm>
          <a:prstGeom prst="rect">
            <a:avLst/>
          </a:prstGeom>
          <a:noFill/>
        </p:spPr>
        <p:txBody>
          <a:bodyPr wrap="square" lIns="18288" rIns="18288" tIns="18288" bIns="18288">
            <a:spAutoFit/>
          </a:bodyPr>
          <a:lstStyle/>
          <a:p>
            <a:pPr>
              <a:defRPr sz="1400" b="0">
                <a:solidFill>
                  <a:srgbClr val="F0F6FA"/>
                </a:solidFill>
                <a:latin typeface="Aptos"/>
              </a:defRPr>
            </a:pPr>
            <a:r>
              <a:t>Validate CSV rows and persist transactions.</a:t>
            </a:r>
          </a:p>
        </p:txBody>
      </p:sp>
      <p:sp>
        <p:nvSpPr>
          <p:cNvPr id="11" name="TextBox 10"/>
          <p:cNvSpPr txBox="1"/>
          <p:nvPr/>
        </p:nvSpPr>
        <p:spPr>
          <a:xfrm>
            <a:off x="3328415" y="2788920"/>
            <a:ext cx="256032" cy="320040"/>
          </a:xfrm>
          <a:prstGeom prst="rect">
            <a:avLst/>
          </a:prstGeom>
          <a:noFill/>
        </p:spPr>
        <p:txBody>
          <a:bodyPr wrap="square" lIns="18288" rIns="18288" tIns="18288" bIns="18288">
            <a:spAutoFit/>
          </a:bodyPr>
          <a:lstStyle/>
          <a:p>
            <a:pPr algn="ctr">
              <a:defRPr sz="2000" b="1">
                <a:solidFill>
                  <a:srgbClr val="3ADCBE"/>
                </a:solidFill>
                <a:latin typeface="Aptos"/>
              </a:defRPr>
            </a:pPr>
            <a:r>
              <a:t>›</a:t>
            </a:r>
          </a:p>
        </p:txBody>
      </p:sp>
      <p:sp>
        <p:nvSpPr>
          <p:cNvPr id="12" name="Rounded Rectangle 11"/>
          <p:cNvSpPr/>
          <p:nvPr/>
        </p:nvSpPr>
        <p:spPr>
          <a:xfrm>
            <a:off x="3593591" y="2057400"/>
            <a:ext cx="2606040" cy="1874519"/>
          </a:xfrm>
          <a:prstGeom prst="roundRect">
            <a:avLst/>
          </a:prstGeom>
          <a:solidFill>
            <a:srgbClr val="192D43"/>
          </a:solidFill>
          <a:ln>
            <a:solidFill>
              <a:srgbClr val="192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76472" y="2304288"/>
            <a:ext cx="2286000" cy="320040"/>
          </a:xfrm>
          <a:prstGeom prst="rect">
            <a:avLst/>
          </a:prstGeom>
          <a:noFill/>
        </p:spPr>
        <p:txBody>
          <a:bodyPr wrap="square" lIns="18288" rIns="18288" tIns="18288" bIns="18288">
            <a:spAutoFit/>
          </a:bodyPr>
          <a:lstStyle/>
          <a:p>
            <a:pPr>
              <a:defRPr sz="1400" b="1">
                <a:solidFill>
                  <a:srgbClr val="3ADCBE"/>
                </a:solidFill>
                <a:latin typeface="Aptos"/>
              </a:defRPr>
            </a:pPr>
            <a:r>
              <a:t>02  SCREEN</a:t>
            </a:r>
          </a:p>
        </p:txBody>
      </p:sp>
      <p:sp>
        <p:nvSpPr>
          <p:cNvPr id="14" name="TextBox 13"/>
          <p:cNvSpPr txBox="1"/>
          <p:nvPr/>
        </p:nvSpPr>
        <p:spPr>
          <a:xfrm>
            <a:off x="3776472" y="2816352"/>
            <a:ext cx="2240280" cy="868680"/>
          </a:xfrm>
          <a:prstGeom prst="rect">
            <a:avLst/>
          </a:prstGeom>
          <a:noFill/>
        </p:spPr>
        <p:txBody>
          <a:bodyPr wrap="square" lIns="18288" rIns="18288" tIns="18288" bIns="18288">
            <a:spAutoFit/>
          </a:bodyPr>
          <a:lstStyle/>
          <a:p>
            <a:pPr>
              <a:defRPr sz="1400" b="0">
                <a:solidFill>
                  <a:srgbClr val="F0F6FA"/>
                </a:solidFill>
                <a:latin typeface="Aptos"/>
              </a:defRPr>
            </a:pPr>
            <a:r>
              <a:t>Flag repeated references and supplier + amount + date matches.</a:t>
            </a:r>
          </a:p>
        </p:txBody>
      </p:sp>
      <p:sp>
        <p:nvSpPr>
          <p:cNvPr id="15" name="TextBox 14"/>
          <p:cNvSpPr txBox="1"/>
          <p:nvPr/>
        </p:nvSpPr>
        <p:spPr>
          <a:xfrm>
            <a:off x="6208775" y="2788920"/>
            <a:ext cx="256032" cy="320040"/>
          </a:xfrm>
          <a:prstGeom prst="rect">
            <a:avLst/>
          </a:prstGeom>
          <a:noFill/>
        </p:spPr>
        <p:txBody>
          <a:bodyPr wrap="square" lIns="18288" rIns="18288" tIns="18288" bIns="18288">
            <a:spAutoFit/>
          </a:bodyPr>
          <a:lstStyle/>
          <a:p>
            <a:pPr algn="ctr">
              <a:defRPr sz="2000" b="1">
                <a:solidFill>
                  <a:srgbClr val="3ADCBE"/>
                </a:solidFill>
                <a:latin typeface="Aptos"/>
              </a:defRPr>
            </a:pPr>
            <a:r>
              <a:t>›</a:t>
            </a:r>
          </a:p>
        </p:txBody>
      </p:sp>
      <p:sp>
        <p:nvSpPr>
          <p:cNvPr id="16" name="Rounded Rectangle 15"/>
          <p:cNvSpPr/>
          <p:nvPr/>
        </p:nvSpPr>
        <p:spPr>
          <a:xfrm>
            <a:off x="6473952" y="2057400"/>
            <a:ext cx="2606040" cy="1874519"/>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56832" y="2304288"/>
            <a:ext cx="2286000" cy="320040"/>
          </a:xfrm>
          <a:prstGeom prst="rect">
            <a:avLst/>
          </a:prstGeom>
          <a:noFill/>
        </p:spPr>
        <p:txBody>
          <a:bodyPr wrap="square" lIns="18288" rIns="18288" tIns="18288" bIns="18288">
            <a:spAutoFit/>
          </a:bodyPr>
          <a:lstStyle/>
          <a:p>
            <a:pPr>
              <a:defRPr sz="1400" b="1">
                <a:solidFill>
                  <a:srgbClr val="3ADCBE"/>
                </a:solidFill>
                <a:latin typeface="Aptos"/>
              </a:defRPr>
            </a:pPr>
            <a:r>
              <a:t>03  EXPLAIN</a:t>
            </a:r>
          </a:p>
        </p:txBody>
      </p:sp>
      <p:sp>
        <p:nvSpPr>
          <p:cNvPr id="18" name="TextBox 17"/>
          <p:cNvSpPr txBox="1"/>
          <p:nvPr/>
        </p:nvSpPr>
        <p:spPr>
          <a:xfrm>
            <a:off x="6656832" y="2816352"/>
            <a:ext cx="2240280" cy="868680"/>
          </a:xfrm>
          <a:prstGeom prst="rect">
            <a:avLst/>
          </a:prstGeom>
          <a:noFill/>
        </p:spPr>
        <p:txBody>
          <a:bodyPr wrap="square" lIns="18288" rIns="18288" tIns="18288" bIns="18288">
            <a:spAutoFit/>
          </a:bodyPr>
          <a:lstStyle/>
          <a:p>
            <a:pPr>
              <a:defRPr sz="1400" b="0">
                <a:solidFill>
                  <a:srgbClr val="F0F6FA"/>
                </a:solidFill>
                <a:latin typeface="Aptos"/>
              </a:defRPr>
            </a:pPr>
            <a:r>
              <a:t>Gemma interprets server-supplied evidence; no database/tool access.</a:t>
            </a:r>
          </a:p>
        </p:txBody>
      </p:sp>
      <p:sp>
        <p:nvSpPr>
          <p:cNvPr id="19" name="TextBox 18"/>
          <p:cNvSpPr txBox="1"/>
          <p:nvPr/>
        </p:nvSpPr>
        <p:spPr>
          <a:xfrm>
            <a:off x="9089136" y="2788920"/>
            <a:ext cx="256032" cy="320040"/>
          </a:xfrm>
          <a:prstGeom prst="rect">
            <a:avLst/>
          </a:prstGeom>
          <a:noFill/>
        </p:spPr>
        <p:txBody>
          <a:bodyPr wrap="square" lIns="18288" rIns="18288" tIns="18288" bIns="18288">
            <a:spAutoFit/>
          </a:bodyPr>
          <a:lstStyle/>
          <a:p>
            <a:pPr algn="ctr">
              <a:defRPr sz="2000" b="1">
                <a:solidFill>
                  <a:srgbClr val="3ADCBE"/>
                </a:solidFill>
                <a:latin typeface="Aptos"/>
              </a:defRPr>
            </a:pPr>
            <a:r>
              <a:t>›</a:t>
            </a:r>
          </a:p>
        </p:txBody>
      </p:sp>
      <p:sp>
        <p:nvSpPr>
          <p:cNvPr id="20" name="Rounded Rectangle 19"/>
          <p:cNvSpPr/>
          <p:nvPr/>
        </p:nvSpPr>
        <p:spPr>
          <a:xfrm>
            <a:off x="9354311" y="2057400"/>
            <a:ext cx="2606040" cy="1874519"/>
          </a:xfrm>
          <a:prstGeom prst="roundRect">
            <a:avLst/>
          </a:prstGeom>
          <a:solidFill>
            <a:srgbClr val="192D43"/>
          </a:solidFill>
          <a:ln>
            <a:solidFill>
              <a:srgbClr val="192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37191" y="2304288"/>
            <a:ext cx="2286000" cy="320040"/>
          </a:xfrm>
          <a:prstGeom prst="rect">
            <a:avLst/>
          </a:prstGeom>
          <a:noFill/>
        </p:spPr>
        <p:txBody>
          <a:bodyPr wrap="square" lIns="18288" rIns="18288" tIns="18288" bIns="18288">
            <a:spAutoFit/>
          </a:bodyPr>
          <a:lstStyle/>
          <a:p>
            <a:pPr>
              <a:defRPr sz="1400" b="1">
                <a:solidFill>
                  <a:srgbClr val="3ADCBE"/>
                </a:solidFill>
                <a:latin typeface="Aptos"/>
              </a:defRPr>
            </a:pPr>
            <a:r>
              <a:t>04  REVIEW</a:t>
            </a:r>
          </a:p>
        </p:txBody>
      </p:sp>
      <p:sp>
        <p:nvSpPr>
          <p:cNvPr id="22" name="TextBox 21"/>
          <p:cNvSpPr txBox="1"/>
          <p:nvPr/>
        </p:nvSpPr>
        <p:spPr>
          <a:xfrm>
            <a:off x="9537191" y="2816352"/>
            <a:ext cx="2240280" cy="868680"/>
          </a:xfrm>
          <a:prstGeom prst="rect">
            <a:avLst/>
          </a:prstGeom>
          <a:noFill/>
        </p:spPr>
        <p:txBody>
          <a:bodyPr wrap="square" lIns="18288" rIns="18288" tIns="18288" bIns="18288">
            <a:spAutoFit/>
          </a:bodyPr>
          <a:lstStyle/>
          <a:p>
            <a:pPr>
              <a:defRPr sz="1400" b="0">
                <a:solidFill>
                  <a:srgbClr val="F0F6FA"/>
                </a:solidFill>
                <a:latin typeface="Aptos"/>
              </a:defRPr>
            </a:pPr>
            <a:r>
              <a:t>Auditor confirms or dismisses; decision and timestamp are stored.</a:t>
            </a:r>
          </a:p>
        </p:txBody>
      </p:sp>
      <p:sp>
        <p:nvSpPr>
          <p:cNvPr id="23" name="Rounded Rectangle 22"/>
          <p:cNvSpPr/>
          <p:nvPr/>
        </p:nvSpPr>
        <p:spPr>
          <a:xfrm>
            <a:off x="713232" y="4343400"/>
            <a:ext cx="10789920" cy="1417320"/>
          </a:xfrm>
          <a:prstGeom prst="roundRect">
            <a:avLst/>
          </a:prstGeom>
          <a:solidFill>
            <a:srgbClr val="17353E"/>
          </a:solidFill>
          <a:ln>
            <a:solidFill>
              <a:srgbClr val="1735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572000"/>
            <a:ext cx="10058400" cy="274320"/>
          </a:xfrm>
          <a:prstGeom prst="rect">
            <a:avLst/>
          </a:prstGeom>
          <a:noFill/>
        </p:spPr>
        <p:txBody>
          <a:bodyPr wrap="square" lIns="18288" rIns="18288" tIns="18288" bIns="18288">
            <a:spAutoFit/>
          </a:bodyPr>
          <a:lstStyle/>
          <a:p>
            <a:pPr>
              <a:defRPr sz="1200" b="1">
                <a:solidFill>
                  <a:srgbClr val="3ADCBE"/>
                </a:solidFill>
                <a:latin typeface="Aptos"/>
              </a:defRPr>
            </a:pPr>
            <a:r>
              <a:t>EVIDENCE BOUNDARY</a:t>
            </a:r>
          </a:p>
        </p:txBody>
      </p:sp>
      <p:sp>
        <p:nvSpPr>
          <p:cNvPr id="25" name="TextBox 24"/>
          <p:cNvSpPr txBox="1"/>
          <p:nvPr/>
        </p:nvSpPr>
        <p:spPr>
          <a:xfrm>
            <a:off x="960120" y="4919472"/>
            <a:ext cx="10058400" cy="594360"/>
          </a:xfrm>
          <a:prstGeom prst="rect">
            <a:avLst/>
          </a:prstGeom>
          <a:noFill/>
        </p:spPr>
        <p:txBody>
          <a:bodyPr wrap="square" lIns="18288" rIns="18288" tIns="18288" bIns="18288">
            <a:spAutoFit/>
          </a:bodyPr>
          <a:lstStyle/>
          <a:p>
            <a:pPr>
              <a:defRPr sz="1500" b="0">
                <a:solidFill>
                  <a:srgbClr val="F0F6FA"/>
                </a:solidFill>
                <a:latin typeface="Aptos"/>
              </a:defRPr>
            </a:pPr>
            <a:r>
              <a:t>Observed evidence is persisted transaction / rule output. Gemma contributes interpretation and recommended checks—not new transaction facts or financial actions.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425"/>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AD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0972800" cy="228600"/>
          </a:xfrm>
          <a:prstGeom prst="rect">
            <a:avLst/>
          </a:prstGeom>
          <a:noFill/>
        </p:spPr>
        <p:txBody>
          <a:bodyPr wrap="square" lIns="18288" rIns="18288" tIns="18288" bIns="18288">
            <a:spAutoFit/>
          </a:bodyPr>
          <a:lstStyle/>
          <a:p>
            <a:pPr>
              <a:defRPr sz="1000" b="1">
                <a:solidFill>
                  <a:srgbClr val="3ADCBE"/>
                </a:solidFill>
                <a:latin typeface="Aptos"/>
              </a:defRPr>
            </a:pPr>
            <a:r>
              <a:t>IMPLEMENTATION / BOTH INFERENCE PATHS VERIFIED</a:t>
            </a:r>
          </a:p>
        </p:txBody>
      </p:sp>
      <p:sp>
        <p:nvSpPr>
          <p:cNvPr id="4" name="TextBox 3"/>
          <p:cNvSpPr txBox="1"/>
          <p:nvPr/>
        </p:nvSpPr>
        <p:spPr>
          <a:xfrm>
            <a:off x="594360" y="621792"/>
            <a:ext cx="10972800" cy="594360"/>
          </a:xfrm>
          <a:prstGeom prst="rect">
            <a:avLst/>
          </a:prstGeom>
          <a:noFill/>
        </p:spPr>
        <p:txBody>
          <a:bodyPr wrap="square" lIns="18288" rIns="18288" tIns="18288" bIns="18288">
            <a:spAutoFit/>
          </a:bodyPr>
          <a:lstStyle/>
          <a:p>
            <a:pPr>
              <a:defRPr sz="2800" b="1">
                <a:solidFill>
                  <a:srgbClr val="F0F6FA"/>
                </a:solidFill>
                <a:latin typeface="Aptos"/>
              </a:defRPr>
            </a:pPr>
            <a:r>
              <a:t>One audit API. Cloud Gemma + local Gemma.</a:t>
            </a:r>
          </a:p>
        </p:txBody>
      </p:sp>
      <p:sp>
        <p:nvSpPr>
          <p:cNvPr id="5" name="TextBox 4"/>
          <p:cNvSpPr txBox="1"/>
          <p:nvPr/>
        </p:nvSpPr>
        <p:spPr>
          <a:xfrm>
            <a:off x="612648" y="1234440"/>
            <a:ext cx="10972800" cy="365760"/>
          </a:xfrm>
          <a:prstGeom prst="rect">
            <a:avLst/>
          </a:prstGeom>
          <a:noFill/>
        </p:spPr>
        <p:txBody>
          <a:bodyPr wrap="square" lIns="18288" rIns="18288" tIns="18288" bIns="18288">
            <a:spAutoFit/>
          </a:bodyPr>
          <a:lstStyle/>
          <a:p>
            <a:pPr>
              <a:defRPr sz="1300" b="0">
                <a:solidFill>
                  <a:srgbClr val="A4B7C9"/>
                </a:solidFill>
                <a:latin typeface="Aptos"/>
              </a:defRPr>
            </a:pPr>
            <a:r>
              <a:t>Next.js / React → FastAPI / Pydantic → SQLite. AI adds interpretation; deterministic screening remains independent.</a:t>
            </a:r>
          </a:p>
        </p:txBody>
      </p:sp>
      <p:sp>
        <p:nvSpPr>
          <p:cNvPr id="6" name="TextBox 5"/>
          <p:cNvSpPr txBox="1"/>
          <p:nvPr/>
        </p:nvSpPr>
        <p:spPr>
          <a:xfrm>
            <a:off x="621792" y="6537960"/>
            <a:ext cx="9144000" cy="182880"/>
          </a:xfrm>
          <a:prstGeom prst="rect">
            <a:avLst/>
          </a:prstGeom>
          <a:noFill/>
        </p:spPr>
        <p:txBody>
          <a:bodyPr wrap="square" lIns="18288" rIns="18288" tIns="18288" bIns="18288">
            <a:spAutoFit/>
          </a:bodyPr>
          <a:lstStyle/>
          <a:p>
            <a:pPr>
              <a:defRPr sz="900" b="0">
                <a:solidFill>
                  <a:srgbClr val="A4B7C9"/>
                </a:solidFill>
                <a:latin typeface="Aptos"/>
              </a:defRPr>
            </a:pPr>
            <a:r>
              <a:t>FINTECH AI  /  DIGITAL SURFERS</a:t>
            </a:r>
          </a:p>
        </p:txBody>
      </p:sp>
      <p:sp>
        <p:nvSpPr>
          <p:cNvPr id="7" name="TextBox 6"/>
          <p:cNvSpPr txBox="1"/>
          <p:nvPr/>
        </p:nvSpPr>
        <p:spPr>
          <a:xfrm>
            <a:off x="11064240" y="6510528"/>
            <a:ext cx="457200" cy="182880"/>
          </a:xfrm>
          <a:prstGeom prst="rect">
            <a:avLst/>
          </a:prstGeom>
          <a:noFill/>
        </p:spPr>
        <p:txBody>
          <a:bodyPr wrap="square" lIns="18288" rIns="18288" tIns="18288" bIns="18288">
            <a:spAutoFit/>
          </a:bodyPr>
          <a:lstStyle/>
          <a:p>
            <a:pPr algn="r">
              <a:defRPr sz="900" b="1">
                <a:solidFill>
                  <a:srgbClr val="3ADCBE"/>
                </a:solidFill>
                <a:latin typeface="Aptos"/>
              </a:defRPr>
            </a:pPr>
            <a:r>
              <a:t>3/5</a:t>
            </a:r>
          </a:p>
        </p:txBody>
      </p:sp>
      <p:sp>
        <p:nvSpPr>
          <p:cNvPr id="8" name="Rounded Rectangle 7"/>
          <p:cNvSpPr/>
          <p:nvPr/>
        </p:nvSpPr>
        <p:spPr>
          <a:xfrm>
            <a:off x="685800" y="1965960"/>
            <a:ext cx="2148840" cy="2377440"/>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212848"/>
            <a:ext cx="1828800" cy="274320"/>
          </a:xfrm>
          <a:prstGeom prst="rect">
            <a:avLst/>
          </a:prstGeom>
          <a:noFill/>
        </p:spPr>
        <p:txBody>
          <a:bodyPr wrap="square" lIns="18288" rIns="18288" tIns="18288" bIns="18288">
            <a:spAutoFit/>
          </a:bodyPr>
          <a:lstStyle/>
          <a:p>
            <a:pPr>
              <a:defRPr sz="1200" b="1">
                <a:solidFill>
                  <a:srgbClr val="3ADCBE"/>
                </a:solidFill>
                <a:latin typeface="Aptos"/>
              </a:defRPr>
            </a:pPr>
            <a:r>
              <a:t>FRONTEND</a:t>
            </a:r>
          </a:p>
        </p:txBody>
      </p:sp>
      <p:sp>
        <p:nvSpPr>
          <p:cNvPr id="10" name="TextBox 9"/>
          <p:cNvSpPr txBox="1"/>
          <p:nvPr/>
        </p:nvSpPr>
        <p:spPr>
          <a:xfrm>
            <a:off x="841248" y="2670048"/>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11" name="TextBox 10"/>
          <p:cNvSpPr txBox="1"/>
          <p:nvPr/>
        </p:nvSpPr>
        <p:spPr>
          <a:xfrm>
            <a:off x="1088136" y="2670048"/>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Dashboard + CSV upload</a:t>
            </a:r>
          </a:p>
        </p:txBody>
      </p:sp>
      <p:sp>
        <p:nvSpPr>
          <p:cNvPr id="12" name="TextBox 11"/>
          <p:cNvSpPr txBox="1"/>
          <p:nvPr/>
        </p:nvSpPr>
        <p:spPr>
          <a:xfrm>
            <a:off x="841248" y="3154680"/>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13" name="TextBox 12"/>
          <p:cNvSpPr txBox="1"/>
          <p:nvPr/>
        </p:nvSpPr>
        <p:spPr>
          <a:xfrm>
            <a:off x="1088136" y="3154680"/>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Transactions + findings</a:t>
            </a:r>
          </a:p>
        </p:txBody>
      </p:sp>
      <p:sp>
        <p:nvSpPr>
          <p:cNvPr id="14" name="TextBox 13"/>
          <p:cNvSpPr txBox="1"/>
          <p:nvPr/>
        </p:nvSpPr>
        <p:spPr>
          <a:xfrm>
            <a:off x="841248" y="3639312"/>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15" name="TextBox 14"/>
          <p:cNvSpPr txBox="1"/>
          <p:nvPr/>
        </p:nvSpPr>
        <p:spPr>
          <a:xfrm>
            <a:off x="1088136" y="3639312"/>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Same-origin API proxy</a:t>
            </a:r>
          </a:p>
        </p:txBody>
      </p:sp>
      <p:sp>
        <p:nvSpPr>
          <p:cNvPr id="16" name="Rounded Rectangle 15"/>
          <p:cNvSpPr/>
          <p:nvPr/>
        </p:nvSpPr>
        <p:spPr>
          <a:xfrm>
            <a:off x="3566160" y="1965960"/>
            <a:ext cx="2148840" cy="2377440"/>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21608" y="2212848"/>
            <a:ext cx="1828800" cy="274320"/>
          </a:xfrm>
          <a:prstGeom prst="rect">
            <a:avLst/>
          </a:prstGeom>
          <a:noFill/>
        </p:spPr>
        <p:txBody>
          <a:bodyPr wrap="square" lIns="18288" rIns="18288" tIns="18288" bIns="18288">
            <a:spAutoFit/>
          </a:bodyPr>
          <a:lstStyle/>
          <a:p>
            <a:pPr>
              <a:defRPr sz="1200" b="1">
                <a:solidFill>
                  <a:srgbClr val="3ADCBE"/>
                </a:solidFill>
                <a:latin typeface="Aptos"/>
              </a:defRPr>
            </a:pPr>
            <a:r>
              <a:t>API + DATABASE</a:t>
            </a:r>
          </a:p>
        </p:txBody>
      </p:sp>
      <p:sp>
        <p:nvSpPr>
          <p:cNvPr id="18" name="TextBox 17"/>
          <p:cNvSpPr txBox="1"/>
          <p:nvPr/>
        </p:nvSpPr>
        <p:spPr>
          <a:xfrm>
            <a:off x="3721608" y="2670048"/>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19" name="TextBox 18"/>
          <p:cNvSpPr txBox="1"/>
          <p:nvPr/>
        </p:nvSpPr>
        <p:spPr>
          <a:xfrm>
            <a:off x="3968496" y="2670048"/>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FastAPI / HTTPX / SQLite</a:t>
            </a:r>
          </a:p>
        </p:txBody>
      </p:sp>
      <p:sp>
        <p:nvSpPr>
          <p:cNvPr id="20" name="TextBox 19"/>
          <p:cNvSpPr txBox="1"/>
          <p:nvPr/>
        </p:nvSpPr>
        <p:spPr>
          <a:xfrm>
            <a:off x="3721608" y="3154680"/>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21" name="TextBox 20"/>
          <p:cNvSpPr txBox="1"/>
          <p:nvPr/>
        </p:nvSpPr>
        <p:spPr>
          <a:xfrm>
            <a:off x="3968496" y="3154680"/>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Transactions + findings</a:t>
            </a:r>
          </a:p>
        </p:txBody>
      </p:sp>
      <p:sp>
        <p:nvSpPr>
          <p:cNvPr id="22" name="TextBox 21"/>
          <p:cNvSpPr txBox="1"/>
          <p:nvPr/>
        </p:nvSpPr>
        <p:spPr>
          <a:xfrm>
            <a:off x="3721608" y="3639312"/>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23" name="TextBox 22"/>
          <p:cNvSpPr txBox="1"/>
          <p:nvPr/>
        </p:nvSpPr>
        <p:spPr>
          <a:xfrm>
            <a:off x="3968496" y="3639312"/>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Explanations + reviews</a:t>
            </a:r>
          </a:p>
        </p:txBody>
      </p:sp>
      <p:sp>
        <p:nvSpPr>
          <p:cNvPr id="24" name="Rounded Rectangle 23"/>
          <p:cNvSpPr/>
          <p:nvPr/>
        </p:nvSpPr>
        <p:spPr>
          <a:xfrm>
            <a:off x="6446520" y="1965960"/>
            <a:ext cx="2148840" cy="2377440"/>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01968" y="2212848"/>
            <a:ext cx="1828800" cy="274320"/>
          </a:xfrm>
          <a:prstGeom prst="rect">
            <a:avLst/>
          </a:prstGeom>
          <a:noFill/>
        </p:spPr>
        <p:txBody>
          <a:bodyPr wrap="square" lIns="18288" rIns="18288" tIns="18288" bIns="18288">
            <a:spAutoFit/>
          </a:bodyPr>
          <a:lstStyle/>
          <a:p>
            <a:pPr>
              <a:defRPr sz="1200" b="1">
                <a:solidFill>
                  <a:srgbClr val="3ADCBE"/>
                </a:solidFill>
                <a:latin typeface="Aptos"/>
              </a:defRPr>
            </a:pPr>
            <a:r>
              <a:t>CLOUD: LIVE</a:t>
            </a:r>
          </a:p>
        </p:txBody>
      </p:sp>
      <p:sp>
        <p:nvSpPr>
          <p:cNvPr id="26" name="TextBox 25"/>
          <p:cNvSpPr txBox="1"/>
          <p:nvPr/>
        </p:nvSpPr>
        <p:spPr>
          <a:xfrm>
            <a:off x="6601968" y="2670048"/>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27" name="TextBox 26"/>
          <p:cNvSpPr txBox="1"/>
          <p:nvPr/>
        </p:nvSpPr>
        <p:spPr>
          <a:xfrm>
            <a:off x="6848856" y="2670048"/>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Google AI Studio</a:t>
            </a:r>
          </a:p>
        </p:txBody>
      </p:sp>
      <p:sp>
        <p:nvSpPr>
          <p:cNvPr id="28" name="TextBox 27"/>
          <p:cNvSpPr txBox="1"/>
          <p:nvPr/>
        </p:nvSpPr>
        <p:spPr>
          <a:xfrm>
            <a:off x="6601968" y="3154680"/>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29" name="TextBox 28"/>
          <p:cNvSpPr txBox="1"/>
          <p:nvPr/>
        </p:nvSpPr>
        <p:spPr>
          <a:xfrm>
            <a:off x="6848856" y="3154680"/>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gemma-4-26b-a4b-it</a:t>
            </a:r>
          </a:p>
        </p:txBody>
      </p:sp>
      <p:sp>
        <p:nvSpPr>
          <p:cNvPr id="30" name="TextBox 29"/>
          <p:cNvSpPr txBox="1"/>
          <p:nvPr/>
        </p:nvSpPr>
        <p:spPr>
          <a:xfrm>
            <a:off x="6601968" y="3639312"/>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31" name="TextBox 30"/>
          <p:cNvSpPr txBox="1"/>
          <p:nvPr/>
        </p:nvSpPr>
        <p:spPr>
          <a:xfrm>
            <a:off x="6848856" y="3639312"/>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App Explain uses cloud</a:t>
            </a:r>
          </a:p>
        </p:txBody>
      </p:sp>
      <p:sp>
        <p:nvSpPr>
          <p:cNvPr id="32" name="Rounded Rectangle 31"/>
          <p:cNvSpPr/>
          <p:nvPr/>
        </p:nvSpPr>
        <p:spPr>
          <a:xfrm>
            <a:off x="9326880" y="1965960"/>
            <a:ext cx="2148840" cy="2377440"/>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82328" y="2212848"/>
            <a:ext cx="1828800" cy="274320"/>
          </a:xfrm>
          <a:prstGeom prst="rect">
            <a:avLst/>
          </a:prstGeom>
          <a:noFill/>
        </p:spPr>
        <p:txBody>
          <a:bodyPr wrap="square" lIns="18288" rIns="18288" tIns="18288" bIns="18288">
            <a:spAutoFit/>
          </a:bodyPr>
          <a:lstStyle/>
          <a:p>
            <a:pPr>
              <a:defRPr sz="1200" b="1">
                <a:solidFill>
                  <a:srgbClr val="3ADCBE"/>
                </a:solidFill>
                <a:latin typeface="Aptos"/>
              </a:defRPr>
            </a:pPr>
            <a:r>
              <a:t>LOCAL: LIVE</a:t>
            </a:r>
          </a:p>
        </p:txBody>
      </p:sp>
      <p:sp>
        <p:nvSpPr>
          <p:cNvPr id="34" name="TextBox 33"/>
          <p:cNvSpPr txBox="1"/>
          <p:nvPr/>
        </p:nvSpPr>
        <p:spPr>
          <a:xfrm>
            <a:off x="9482328" y="2670048"/>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35" name="TextBox 34"/>
          <p:cNvSpPr txBox="1"/>
          <p:nvPr/>
        </p:nvSpPr>
        <p:spPr>
          <a:xfrm>
            <a:off x="9729215" y="2670048"/>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Ollama: gemma4:latest</a:t>
            </a:r>
          </a:p>
        </p:txBody>
      </p:sp>
      <p:sp>
        <p:nvSpPr>
          <p:cNvPr id="36" name="TextBox 35"/>
          <p:cNvSpPr txBox="1"/>
          <p:nvPr/>
        </p:nvSpPr>
        <p:spPr>
          <a:xfrm>
            <a:off x="9482328" y="3154680"/>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37" name="TextBox 36"/>
          <p:cNvSpPr txBox="1"/>
          <p:nvPr/>
        </p:nvSpPr>
        <p:spPr>
          <a:xfrm>
            <a:off x="9729215" y="3154680"/>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7.5B Q4_K_M / 6.6GB</a:t>
            </a:r>
          </a:p>
        </p:txBody>
      </p:sp>
      <p:sp>
        <p:nvSpPr>
          <p:cNvPr id="38" name="TextBox 37"/>
          <p:cNvSpPr txBox="1"/>
          <p:nvPr/>
        </p:nvSpPr>
        <p:spPr>
          <a:xfrm>
            <a:off x="9482328" y="3639312"/>
            <a:ext cx="201168" cy="274320"/>
          </a:xfrm>
          <a:prstGeom prst="rect">
            <a:avLst/>
          </a:prstGeom>
          <a:noFill/>
        </p:spPr>
        <p:txBody>
          <a:bodyPr wrap="square" lIns="18288" rIns="18288" tIns="18288" bIns="18288">
            <a:spAutoFit/>
          </a:bodyPr>
          <a:lstStyle/>
          <a:p>
            <a:pPr>
              <a:defRPr sz="1400" b="1">
                <a:solidFill>
                  <a:srgbClr val="3ADCBE"/>
                </a:solidFill>
                <a:latin typeface="Aptos"/>
              </a:defRPr>
            </a:pPr>
            <a:r>
              <a:t>•</a:t>
            </a:r>
          </a:p>
        </p:txBody>
      </p:sp>
      <p:sp>
        <p:nvSpPr>
          <p:cNvPr id="39" name="TextBox 38"/>
          <p:cNvSpPr txBox="1"/>
          <p:nvPr/>
        </p:nvSpPr>
        <p:spPr>
          <a:xfrm>
            <a:off x="9729215" y="3639312"/>
            <a:ext cx="1600200" cy="502920"/>
          </a:xfrm>
          <a:prstGeom prst="rect">
            <a:avLst/>
          </a:prstGeom>
          <a:noFill/>
        </p:spPr>
        <p:txBody>
          <a:bodyPr wrap="square" lIns="18288" rIns="18288" tIns="18288" bIns="18288">
            <a:spAutoFit/>
          </a:bodyPr>
          <a:lstStyle/>
          <a:p>
            <a:pPr>
              <a:defRPr sz="1200" b="0">
                <a:solidFill>
                  <a:srgbClr val="F0F6FA"/>
                </a:solidFill>
                <a:latin typeface="Aptos"/>
              </a:defRPr>
            </a:pPr>
            <a:r>
              <a:t>Remote /ollama API access</a:t>
            </a:r>
          </a:p>
        </p:txBody>
      </p:sp>
      <p:sp>
        <p:nvSpPr>
          <p:cNvPr id="40" name="TextBox 39"/>
          <p:cNvSpPr txBox="1"/>
          <p:nvPr/>
        </p:nvSpPr>
        <p:spPr>
          <a:xfrm>
            <a:off x="2971800" y="2880360"/>
            <a:ext cx="365760" cy="320040"/>
          </a:xfrm>
          <a:prstGeom prst="rect">
            <a:avLst/>
          </a:prstGeom>
          <a:noFill/>
        </p:spPr>
        <p:txBody>
          <a:bodyPr wrap="square" lIns="18288" rIns="18288" tIns="18288" bIns="18288">
            <a:spAutoFit/>
          </a:bodyPr>
          <a:lstStyle/>
          <a:p>
            <a:pPr algn="ctr">
              <a:defRPr sz="1900" b="1">
                <a:solidFill>
                  <a:srgbClr val="3ADCBE"/>
                </a:solidFill>
                <a:latin typeface="Aptos"/>
              </a:defRPr>
            </a:pPr>
            <a:r>
              <a:t>→</a:t>
            </a:r>
          </a:p>
        </p:txBody>
      </p:sp>
      <p:sp>
        <p:nvSpPr>
          <p:cNvPr id="41" name="TextBox 40"/>
          <p:cNvSpPr txBox="1"/>
          <p:nvPr/>
        </p:nvSpPr>
        <p:spPr>
          <a:xfrm>
            <a:off x="5852160" y="2880360"/>
            <a:ext cx="365760" cy="320040"/>
          </a:xfrm>
          <a:prstGeom prst="rect">
            <a:avLst/>
          </a:prstGeom>
          <a:noFill/>
        </p:spPr>
        <p:txBody>
          <a:bodyPr wrap="square" lIns="18288" rIns="18288" tIns="18288" bIns="18288">
            <a:spAutoFit/>
          </a:bodyPr>
          <a:lstStyle/>
          <a:p>
            <a:pPr algn="ctr">
              <a:defRPr sz="1900" b="1">
                <a:solidFill>
                  <a:srgbClr val="3ADCBE"/>
                </a:solidFill>
                <a:latin typeface="Aptos"/>
              </a:defRPr>
            </a:pPr>
            <a:r>
              <a:t>→</a:t>
            </a:r>
          </a:p>
        </p:txBody>
      </p:sp>
      <p:sp>
        <p:nvSpPr>
          <p:cNvPr id="42" name="TextBox 41"/>
          <p:cNvSpPr txBox="1"/>
          <p:nvPr/>
        </p:nvSpPr>
        <p:spPr>
          <a:xfrm>
            <a:off x="8732520" y="2880360"/>
            <a:ext cx="365760" cy="320040"/>
          </a:xfrm>
          <a:prstGeom prst="rect">
            <a:avLst/>
          </a:prstGeom>
          <a:noFill/>
        </p:spPr>
        <p:txBody>
          <a:bodyPr wrap="square" lIns="18288" rIns="18288" tIns="18288" bIns="18288">
            <a:spAutoFit/>
          </a:bodyPr>
          <a:lstStyle/>
          <a:p>
            <a:pPr algn="ctr">
              <a:defRPr sz="1900" b="1">
                <a:solidFill>
                  <a:srgbClr val="3ADCBE"/>
                </a:solidFill>
                <a:latin typeface="Aptos"/>
              </a:defRPr>
            </a:pPr>
            <a:r>
              <a:t>→</a:t>
            </a:r>
          </a:p>
        </p:txBody>
      </p:sp>
      <p:sp>
        <p:nvSpPr>
          <p:cNvPr id="43" name="Rounded Rectangle 42"/>
          <p:cNvSpPr/>
          <p:nvPr/>
        </p:nvSpPr>
        <p:spPr>
          <a:xfrm>
            <a:off x="685800" y="4645152"/>
            <a:ext cx="10789920" cy="1188720"/>
          </a:xfrm>
          <a:prstGeom prst="roundRect">
            <a:avLst/>
          </a:prstGeom>
          <a:solidFill>
            <a:srgbClr val="192D43"/>
          </a:solidFill>
          <a:ln>
            <a:solidFill>
              <a:srgbClr val="192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2688" y="4828032"/>
            <a:ext cx="10058400" cy="274320"/>
          </a:xfrm>
          <a:prstGeom prst="rect">
            <a:avLst/>
          </a:prstGeom>
          <a:noFill/>
        </p:spPr>
        <p:txBody>
          <a:bodyPr wrap="square" lIns="18288" rIns="18288" tIns="18288" bIns="18288">
            <a:spAutoFit/>
          </a:bodyPr>
          <a:lstStyle/>
          <a:p>
            <a:pPr>
              <a:defRPr sz="1200" b="1">
                <a:solidFill>
                  <a:srgbClr val="FFC15E"/>
                </a:solidFill>
                <a:latin typeface="Aptos"/>
              </a:defRPr>
            </a:pPr>
            <a:r>
              <a:t>REPRODUCIBLE EVIDENCE</a:t>
            </a:r>
          </a:p>
        </p:txBody>
      </p:sp>
      <p:sp>
        <p:nvSpPr>
          <p:cNvPr id="45" name="TextBox 44"/>
          <p:cNvSpPr txBox="1"/>
          <p:nvPr/>
        </p:nvSpPr>
        <p:spPr>
          <a:xfrm>
            <a:off x="932688" y="5193792"/>
            <a:ext cx="10241280" cy="457200"/>
          </a:xfrm>
          <a:prstGeom prst="rect">
            <a:avLst/>
          </a:prstGeom>
          <a:noFill/>
        </p:spPr>
        <p:txBody>
          <a:bodyPr wrap="square" lIns="18288" rIns="18288" tIns="18288" bIns="18288">
            <a:spAutoFit/>
          </a:bodyPr>
          <a:lstStyle/>
          <a:p>
            <a:pPr>
              <a:defRPr sz="1300" b="0">
                <a:solidFill>
                  <a:srgbClr val="F0F6FA"/>
                </a:solidFill>
                <a:latin typeface="Aptos"/>
              </a:defRPr>
            </a:pPr>
            <a:r>
              <a:t>3 backend tests passed • public cloud explain + local generation succeeded • separate Pandas / Isolation Forest sample: 100 accepted, 6 duplicate rows, 34 anomaly rows (not yet wired into upload).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425"/>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AD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0972800" cy="228600"/>
          </a:xfrm>
          <a:prstGeom prst="rect">
            <a:avLst/>
          </a:prstGeom>
          <a:noFill/>
        </p:spPr>
        <p:txBody>
          <a:bodyPr wrap="square" lIns="18288" rIns="18288" tIns="18288" bIns="18288">
            <a:spAutoFit/>
          </a:bodyPr>
          <a:lstStyle/>
          <a:p>
            <a:pPr>
              <a:defRPr sz="1000" b="1">
                <a:solidFill>
                  <a:srgbClr val="3ADCBE"/>
                </a:solidFill>
                <a:latin typeface="Aptos"/>
              </a:defRPr>
            </a:pPr>
            <a:r>
              <a:t>LIVE DEMO / 90 SECONDS</a:t>
            </a:r>
          </a:p>
        </p:txBody>
      </p:sp>
      <p:sp>
        <p:nvSpPr>
          <p:cNvPr id="4" name="TextBox 3"/>
          <p:cNvSpPr txBox="1"/>
          <p:nvPr/>
        </p:nvSpPr>
        <p:spPr>
          <a:xfrm>
            <a:off x="594360" y="621792"/>
            <a:ext cx="10972800" cy="594360"/>
          </a:xfrm>
          <a:prstGeom prst="rect">
            <a:avLst/>
          </a:prstGeom>
          <a:noFill/>
        </p:spPr>
        <p:txBody>
          <a:bodyPr wrap="square" lIns="18288" rIns="18288" tIns="18288" bIns="18288">
            <a:spAutoFit/>
          </a:bodyPr>
          <a:lstStyle/>
          <a:p>
            <a:pPr>
              <a:defRPr sz="2800" b="1">
                <a:solidFill>
                  <a:srgbClr val="F0F6FA"/>
                </a:solidFill>
                <a:latin typeface="Aptos"/>
              </a:defRPr>
            </a:pPr>
            <a:r>
              <a:t>CSV → duplicate evidence → Gemma explanation → review</a:t>
            </a:r>
          </a:p>
        </p:txBody>
      </p:sp>
      <p:sp>
        <p:nvSpPr>
          <p:cNvPr id="5" name="TextBox 4"/>
          <p:cNvSpPr txBox="1"/>
          <p:nvPr/>
        </p:nvSpPr>
        <p:spPr>
          <a:xfrm>
            <a:off x="612648" y="1234440"/>
            <a:ext cx="10972800" cy="365760"/>
          </a:xfrm>
          <a:prstGeom prst="rect">
            <a:avLst/>
          </a:prstGeom>
          <a:noFill/>
        </p:spPr>
        <p:txBody>
          <a:bodyPr wrap="square" lIns="18288" rIns="18288" tIns="18288" bIns="18288">
            <a:spAutoFit/>
          </a:bodyPr>
          <a:lstStyle/>
          <a:p>
            <a:pPr>
              <a:defRPr sz="1300" b="0">
                <a:solidFill>
                  <a:srgbClr val="A4B7C9"/>
                </a:solidFill>
                <a:latin typeface="Aptos"/>
              </a:defRPr>
            </a:pPr>
            <a:r>
              <a:t>Public app: ranks-atlanta-formerly-diverse.trycloudflare.com/dashboard</a:t>
            </a:r>
          </a:p>
        </p:txBody>
      </p:sp>
      <p:sp>
        <p:nvSpPr>
          <p:cNvPr id="6" name="TextBox 5"/>
          <p:cNvSpPr txBox="1"/>
          <p:nvPr/>
        </p:nvSpPr>
        <p:spPr>
          <a:xfrm>
            <a:off x="621792" y="6537960"/>
            <a:ext cx="9144000" cy="182880"/>
          </a:xfrm>
          <a:prstGeom prst="rect">
            <a:avLst/>
          </a:prstGeom>
          <a:noFill/>
        </p:spPr>
        <p:txBody>
          <a:bodyPr wrap="square" lIns="18288" rIns="18288" tIns="18288" bIns="18288">
            <a:spAutoFit/>
          </a:bodyPr>
          <a:lstStyle/>
          <a:p>
            <a:pPr>
              <a:defRPr sz="900" b="0">
                <a:solidFill>
                  <a:srgbClr val="A4B7C9"/>
                </a:solidFill>
                <a:latin typeface="Aptos"/>
              </a:defRPr>
            </a:pPr>
            <a:r>
              <a:t>FINTECH AI  /  DIGITAL SURFERS</a:t>
            </a:r>
          </a:p>
        </p:txBody>
      </p:sp>
      <p:sp>
        <p:nvSpPr>
          <p:cNvPr id="7" name="TextBox 6"/>
          <p:cNvSpPr txBox="1"/>
          <p:nvPr/>
        </p:nvSpPr>
        <p:spPr>
          <a:xfrm>
            <a:off x="11064240" y="6510528"/>
            <a:ext cx="457200" cy="182880"/>
          </a:xfrm>
          <a:prstGeom prst="rect">
            <a:avLst/>
          </a:prstGeom>
          <a:noFill/>
        </p:spPr>
        <p:txBody>
          <a:bodyPr wrap="square" lIns="18288" rIns="18288" tIns="18288" bIns="18288">
            <a:spAutoFit/>
          </a:bodyPr>
          <a:lstStyle/>
          <a:p>
            <a:pPr algn="r">
              <a:defRPr sz="900" b="1">
                <a:solidFill>
                  <a:srgbClr val="3ADCBE"/>
                </a:solidFill>
                <a:latin typeface="Aptos"/>
              </a:defRPr>
            </a:pPr>
            <a:r>
              <a:t>4/5</a:t>
            </a:r>
          </a:p>
        </p:txBody>
      </p:sp>
      <p:sp>
        <p:nvSpPr>
          <p:cNvPr id="8" name="Rounded Rectangle 7"/>
          <p:cNvSpPr/>
          <p:nvPr/>
        </p:nvSpPr>
        <p:spPr>
          <a:xfrm>
            <a:off x="685800" y="1874519"/>
            <a:ext cx="5577840" cy="4114800"/>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48840"/>
            <a:ext cx="4937760" cy="274320"/>
          </a:xfrm>
          <a:prstGeom prst="rect">
            <a:avLst/>
          </a:prstGeom>
          <a:noFill/>
        </p:spPr>
        <p:txBody>
          <a:bodyPr wrap="square" lIns="18288" rIns="18288" tIns="18288" bIns="18288">
            <a:spAutoFit/>
          </a:bodyPr>
          <a:lstStyle/>
          <a:p>
            <a:pPr>
              <a:defRPr sz="1200" b="1">
                <a:solidFill>
                  <a:srgbClr val="3ADCBE"/>
                </a:solidFill>
                <a:latin typeface="Aptos"/>
              </a:defRPr>
            </a:pPr>
            <a:r>
              <a:t>SHOW THE END-TO-END FLOW</a:t>
            </a:r>
          </a:p>
        </p:txBody>
      </p:sp>
      <p:sp>
        <p:nvSpPr>
          <p:cNvPr id="10" name="TextBox 9"/>
          <p:cNvSpPr txBox="1"/>
          <p:nvPr/>
        </p:nvSpPr>
        <p:spPr>
          <a:xfrm>
            <a:off x="960120" y="2651760"/>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1" name="TextBox 10"/>
          <p:cNvSpPr txBox="1"/>
          <p:nvPr/>
        </p:nvSpPr>
        <p:spPr>
          <a:xfrm>
            <a:off x="1207008" y="2651760"/>
            <a:ext cx="4690872" cy="603504"/>
          </a:xfrm>
          <a:prstGeom prst="rect">
            <a:avLst/>
          </a:prstGeom>
          <a:noFill/>
        </p:spPr>
        <p:txBody>
          <a:bodyPr wrap="square" lIns="18288" rIns="18288" tIns="18288" bIns="18288">
            <a:spAutoFit/>
          </a:bodyPr>
          <a:lstStyle/>
          <a:p>
            <a:pPr>
              <a:defRPr sz="1400" b="0">
                <a:solidFill>
                  <a:srgbClr val="F0F6FA"/>
                </a:solidFill>
                <a:latin typeface="Aptos"/>
              </a:defRPr>
            </a:pPr>
            <a:r>
              <a:t>Upload 01_mixed_office_transactions.csv (20 valid rows).</a:t>
            </a:r>
          </a:p>
        </p:txBody>
      </p:sp>
      <p:sp>
        <p:nvSpPr>
          <p:cNvPr id="12" name="TextBox 11"/>
          <p:cNvSpPr txBox="1"/>
          <p:nvPr/>
        </p:nvSpPr>
        <p:spPr>
          <a:xfrm>
            <a:off x="960120" y="3236976"/>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3" name="TextBox 12"/>
          <p:cNvSpPr txBox="1"/>
          <p:nvPr/>
        </p:nvSpPr>
        <p:spPr>
          <a:xfrm>
            <a:off x="1207008" y="3236976"/>
            <a:ext cx="4690872" cy="603504"/>
          </a:xfrm>
          <a:prstGeom prst="rect">
            <a:avLst/>
          </a:prstGeom>
          <a:noFill/>
        </p:spPr>
        <p:txBody>
          <a:bodyPr wrap="square" lIns="18288" rIns="18288" tIns="18288" bIns="18288">
            <a:spAutoFit/>
          </a:bodyPr>
          <a:lstStyle/>
          <a:p>
            <a:pPr>
              <a:defRPr sz="1400" b="0">
                <a:solidFill>
                  <a:srgbClr val="F0F6FA"/>
                </a:solidFill>
                <a:latin typeface="Aptos"/>
              </a:defRPr>
            </a:pPr>
            <a:r>
              <a:t>Open Anomalies &amp; AI; inspect a duplicate candidate.</a:t>
            </a:r>
          </a:p>
        </p:txBody>
      </p:sp>
      <p:sp>
        <p:nvSpPr>
          <p:cNvPr id="14" name="TextBox 13"/>
          <p:cNvSpPr txBox="1"/>
          <p:nvPr/>
        </p:nvSpPr>
        <p:spPr>
          <a:xfrm>
            <a:off x="960120" y="3822191"/>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5" name="TextBox 14"/>
          <p:cNvSpPr txBox="1"/>
          <p:nvPr/>
        </p:nvSpPr>
        <p:spPr>
          <a:xfrm>
            <a:off x="1207008" y="3822191"/>
            <a:ext cx="4690872" cy="603504"/>
          </a:xfrm>
          <a:prstGeom prst="rect">
            <a:avLst/>
          </a:prstGeom>
          <a:noFill/>
        </p:spPr>
        <p:txBody>
          <a:bodyPr wrap="square" lIns="18288" rIns="18288" tIns="18288" bIns="18288">
            <a:spAutoFit/>
          </a:bodyPr>
          <a:lstStyle/>
          <a:p>
            <a:pPr>
              <a:defRPr sz="1400" b="0">
                <a:solidFill>
                  <a:srgbClr val="F0F6FA"/>
                </a:solidFill>
                <a:latin typeface="Aptos"/>
              </a:defRPr>
            </a:pPr>
            <a:r>
              <a:t>Explain: Google-hosted Gemma interprets the supplied evidence.</a:t>
            </a:r>
          </a:p>
        </p:txBody>
      </p:sp>
      <p:sp>
        <p:nvSpPr>
          <p:cNvPr id="16" name="TextBox 15"/>
          <p:cNvSpPr txBox="1"/>
          <p:nvPr/>
        </p:nvSpPr>
        <p:spPr>
          <a:xfrm>
            <a:off x="960120" y="4407408"/>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7" name="TextBox 16"/>
          <p:cNvSpPr txBox="1"/>
          <p:nvPr/>
        </p:nvSpPr>
        <p:spPr>
          <a:xfrm>
            <a:off x="1207008" y="4407408"/>
            <a:ext cx="4690872" cy="603504"/>
          </a:xfrm>
          <a:prstGeom prst="rect">
            <a:avLst/>
          </a:prstGeom>
          <a:noFill/>
        </p:spPr>
        <p:txBody>
          <a:bodyPr wrap="square" lIns="18288" rIns="18288" tIns="18288" bIns="18288">
            <a:spAutoFit/>
          </a:bodyPr>
          <a:lstStyle/>
          <a:p>
            <a:pPr>
              <a:defRPr sz="1400" b="0">
                <a:solidFill>
                  <a:srgbClr val="F0F6FA"/>
                </a:solidFill>
                <a:latin typeface="Aptos"/>
              </a:defRPr>
            </a:pPr>
            <a:r>
              <a:t>Save review; refresh to show persisted status.</a:t>
            </a:r>
          </a:p>
        </p:txBody>
      </p:sp>
      <p:sp>
        <p:nvSpPr>
          <p:cNvPr id="18" name="TextBox 17"/>
          <p:cNvSpPr txBox="1"/>
          <p:nvPr/>
        </p:nvSpPr>
        <p:spPr>
          <a:xfrm>
            <a:off x="960120" y="4992624"/>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9" name="TextBox 18"/>
          <p:cNvSpPr txBox="1"/>
          <p:nvPr/>
        </p:nvSpPr>
        <p:spPr>
          <a:xfrm>
            <a:off x="1207008" y="4992624"/>
            <a:ext cx="4690872" cy="603504"/>
          </a:xfrm>
          <a:prstGeom prst="rect">
            <a:avLst/>
          </a:prstGeom>
          <a:noFill/>
        </p:spPr>
        <p:txBody>
          <a:bodyPr wrap="square" lIns="18288" rIns="18288" tIns="18288" bIns="18288">
            <a:spAutoFit/>
          </a:bodyPr>
          <a:lstStyle/>
          <a:p>
            <a:pPr>
              <a:defRPr sz="1400" b="0">
                <a:solidFill>
                  <a:srgbClr val="F0F6FA"/>
                </a:solidFill>
                <a:latin typeface="Aptos"/>
              </a:defRPr>
            </a:pPr>
            <a:r>
              <a:t>Local model: POST /ollama/api/generate; Swagger: /backend/docs</a:t>
            </a:r>
          </a:p>
        </p:txBody>
      </p:sp>
      <p:sp>
        <p:nvSpPr>
          <p:cNvPr id="20" name="Rounded Rectangle 19"/>
          <p:cNvSpPr/>
          <p:nvPr/>
        </p:nvSpPr>
        <p:spPr>
          <a:xfrm>
            <a:off x="6537960" y="1874519"/>
            <a:ext cx="4937760" cy="4114800"/>
          </a:xfrm>
          <a:prstGeom prst="roundRect">
            <a:avLst/>
          </a:prstGeom>
          <a:solidFill>
            <a:srgbClr val="192D43"/>
          </a:solidFill>
          <a:ln>
            <a:solidFill>
              <a:srgbClr val="192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39712" y="2148840"/>
            <a:ext cx="4389120" cy="274320"/>
          </a:xfrm>
          <a:prstGeom prst="rect">
            <a:avLst/>
          </a:prstGeom>
          <a:noFill/>
        </p:spPr>
        <p:txBody>
          <a:bodyPr wrap="square" lIns="18288" rIns="18288" tIns="18288" bIns="18288">
            <a:spAutoFit/>
          </a:bodyPr>
          <a:lstStyle/>
          <a:p>
            <a:pPr>
              <a:defRPr sz="1200" b="1">
                <a:solidFill>
                  <a:srgbClr val="FFC15E"/>
                </a:solidFill>
                <a:latin typeface="Aptos"/>
              </a:defRPr>
            </a:pPr>
            <a:r>
              <a:t>THREE SYNTHETIC DEMO FILES</a:t>
            </a:r>
          </a:p>
        </p:txBody>
      </p:sp>
      <p:sp>
        <p:nvSpPr>
          <p:cNvPr id="22" name="TextBox 21"/>
          <p:cNvSpPr txBox="1"/>
          <p:nvPr/>
        </p:nvSpPr>
        <p:spPr>
          <a:xfrm>
            <a:off x="6839712" y="2651760"/>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23" name="TextBox 22"/>
          <p:cNvSpPr txBox="1"/>
          <p:nvPr/>
        </p:nvSpPr>
        <p:spPr>
          <a:xfrm>
            <a:off x="7086600" y="2651760"/>
            <a:ext cx="4096512" cy="722376"/>
          </a:xfrm>
          <a:prstGeom prst="rect">
            <a:avLst/>
          </a:prstGeom>
          <a:noFill/>
        </p:spPr>
        <p:txBody>
          <a:bodyPr wrap="square" lIns="18288" rIns="18288" tIns="18288" bIns="18288">
            <a:spAutoFit/>
          </a:bodyPr>
          <a:lstStyle/>
          <a:p>
            <a:pPr>
              <a:defRPr sz="1400" b="0">
                <a:solidFill>
                  <a:srgbClr val="F0F6FA"/>
                </a:solidFill>
                <a:latin typeface="Aptos"/>
              </a:defRPr>
            </a:pPr>
            <a:r>
              <a:t>01 Office: 20 valid rows; varied costs + duplicate candidates.</a:t>
            </a:r>
          </a:p>
        </p:txBody>
      </p:sp>
      <p:sp>
        <p:nvSpPr>
          <p:cNvPr id="24" name="TextBox 23"/>
          <p:cNvSpPr txBox="1"/>
          <p:nvPr/>
        </p:nvSpPr>
        <p:spPr>
          <a:xfrm>
            <a:off x="6839712" y="3355848"/>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25" name="TextBox 24"/>
          <p:cNvSpPr txBox="1"/>
          <p:nvPr/>
        </p:nvSpPr>
        <p:spPr>
          <a:xfrm>
            <a:off x="7086600" y="3355848"/>
            <a:ext cx="4096512" cy="722376"/>
          </a:xfrm>
          <a:prstGeom prst="rect">
            <a:avLst/>
          </a:prstGeom>
          <a:noFill/>
        </p:spPr>
        <p:txBody>
          <a:bodyPr wrap="square" lIns="18288" rIns="18288" tIns="18288" bIns="18288">
            <a:spAutoFit/>
          </a:bodyPr>
          <a:lstStyle/>
          <a:p>
            <a:pPr>
              <a:defRPr sz="1400" b="0">
                <a:solidFill>
                  <a:srgbClr val="F0F6FA"/>
                </a:solidFill>
                <a:latin typeface="Aptos"/>
              </a:defRPr>
            </a:pPr>
            <a:r>
              <a:t>02 Retail: 20 valid rows; inventory, logistics + duplicates.</a:t>
            </a:r>
          </a:p>
        </p:txBody>
      </p:sp>
      <p:sp>
        <p:nvSpPr>
          <p:cNvPr id="26" name="TextBox 25"/>
          <p:cNvSpPr txBox="1"/>
          <p:nvPr/>
        </p:nvSpPr>
        <p:spPr>
          <a:xfrm>
            <a:off x="6839712" y="4059935"/>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27" name="TextBox 26"/>
          <p:cNvSpPr txBox="1"/>
          <p:nvPr/>
        </p:nvSpPr>
        <p:spPr>
          <a:xfrm>
            <a:off x="7086600" y="4059935"/>
            <a:ext cx="4096512" cy="722376"/>
          </a:xfrm>
          <a:prstGeom prst="rect">
            <a:avLst/>
          </a:prstGeom>
          <a:noFill/>
        </p:spPr>
        <p:txBody>
          <a:bodyPr wrap="square" lIns="18288" rIns="18288" tIns="18288" bIns="18288">
            <a:spAutoFit/>
          </a:bodyPr>
          <a:lstStyle/>
          <a:p>
            <a:pPr>
              <a:defRPr sz="1400" b="0">
                <a:solidFill>
                  <a:srgbClr val="F0F6FA"/>
                </a:solidFill>
                <a:latin typeface="Aptos"/>
              </a:defRPr>
            </a:pPr>
            <a:r>
              <a:t>03 Projects: 16 valid + 4 invalid rows; demonstrate rejection reporting.</a:t>
            </a:r>
          </a:p>
        </p:txBody>
      </p:sp>
      <p:sp>
        <p:nvSpPr>
          <p:cNvPr id="28" name="TextBox 27"/>
          <p:cNvSpPr txBox="1"/>
          <p:nvPr/>
        </p:nvSpPr>
        <p:spPr>
          <a:xfrm>
            <a:off x="6839712" y="4764024"/>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29" name="TextBox 28"/>
          <p:cNvSpPr txBox="1"/>
          <p:nvPr/>
        </p:nvSpPr>
        <p:spPr>
          <a:xfrm>
            <a:off x="7086600" y="4764024"/>
            <a:ext cx="4096512" cy="722376"/>
          </a:xfrm>
          <a:prstGeom prst="rect">
            <a:avLst/>
          </a:prstGeom>
          <a:noFill/>
        </p:spPr>
        <p:txBody>
          <a:bodyPr wrap="square" lIns="18288" rIns="18288" tIns="18288" bIns="18288">
            <a:spAutoFit/>
          </a:bodyPr>
          <a:lstStyle/>
          <a:p>
            <a:pPr>
              <a:defRPr sz="1400" b="0">
                <a:solidFill>
                  <a:srgbClr val="F0F6FA"/>
                </a:solidFill>
                <a:latin typeface="Aptos"/>
              </a:defRPr>
            </a:pPr>
            <a:r>
              <a:t>Large payment ≠ fraud. Same-value invoices may be legitimate; auditor checks.</a:t>
            </a:r>
          </a:p>
        </p:txBody>
      </p:sp>
      <p:sp>
        <p:nvSpPr>
          <p:cNvPr id="30" name="TextBox 29"/>
          <p:cNvSpPr txBox="1"/>
          <p:nvPr/>
        </p:nvSpPr>
        <p:spPr>
          <a:xfrm>
            <a:off x="960120" y="6126480"/>
            <a:ext cx="10241280" cy="228600"/>
          </a:xfrm>
          <a:prstGeom prst="rect">
            <a:avLst/>
          </a:prstGeom>
          <a:noFill/>
        </p:spPr>
        <p:txBody>
          <a:bodyPr wrap="square" lIns="18288" rIns="18288" tIns="18288" bIns="18288">
            <a:spAutoFit/>
          </a:bodyPr>
          <a:lstStyle/>
          <a:p>
            <a:pPr>
              <a:defRPr sz="1000" b="0">
                <a:solidFill>
                  <a:srgbClr val="A4B7C9"/>
                </a:solidFill>
                <a:latin typeface="Aptos"/>
              </a:defRPr>
            </a:pPr>
            <a:r>
              <a:t>CSV downloads: /demo-data/ on the same host. Public smoke test passed upload → finding → saved review; local and cloud generation both succeeded.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425"/>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3AD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10972800" cy="228600"/>
          </a:xfrm>
          <a:prstGeom prst="rect">
            <a:avLst/>
          </a:prstGeom>
          <a:noFill/>
        </p:spPr>
        <p:txBody>
          <a:bodyPr wrap="square" lIns="18288" rIns="18288" tIns="18288" bIns="18288">
            <a:spAutoFit/>
          </a:bodyPr>
          <a:lstStyle/>
          <a:p>
            <a:pPr>
              <a:defRPr sz="1000" b="1">
                <a:solidFill>
                  <a:srgbClr val="3ADCBE"/>
                </a:solidFill>
                <a:latin typeface="Aptos"/>
              </a:defRPr>
            </a:pPr>
            <a:r>
              <a:t>IMPACT / PUBLIC SOURCE / NEXT STEPS</a:t>
            </a:r>
          </a:p>
        </p:txBody>
      </p:sp>
      <p:sp>
        <p:nvSpPr>
          <p:cNvPr id="4" name="TextBox 3"/>
          <p:cNvSpPr txBox="1"/>
          <p:nvPr/>
        </p:nvSpPr>
        <p:spPr>
          <a:xfrm>
            <a:off x="594360" y="621792"/>
            <a:ext cx="10972800" cy="594360"/>
          </a:xfrm>
          <a:prstGeom prst="rect">
            <a:avLst/>
          </a:prstGeom>
          <a:noFill/>
        </p:spPr>
        <p:txBody>
          <a:bodyPr wrap="square" lIns="18288" rIns="18288" tIns="18288" bIns="18288">
            <a:spAutoFit/>
          </a:bodyPr>
          <a:lstStyle/>
          <a:p>
            <a:pPr>
              <a:defRPr sz="2800" b="1">
                <a:solidFill>
                  <a:srgbClr val="F0F6FA"/>
                </a:solidFill>
                <a:latin typeface="Aptos"/>
              </a:defRPr>
            </a:pPr>
            <a:r>
              <a:t>Faster triage is the goal. Traceable review is the deliverable.</a:t>
            </a:r>
          </a:p>
        </p:txBody>
      </p:sp>
      <p:sp>
        <p:nvSpPr>
          <p:cNvPr id="5" name="TextBox 4"/>
          <p:cNvSpPr txBox="1"/>
          <p:nvPr/>
        </p:nvSpPr>
        <p:spPr>
          <a:xfrm>
            <a:off x="612648" y="1234440"/>
            <a:ext cx="10972800" cy="365760"/>
          </a:xfrm>
          <a:prstGeom prst="rect">
            <a:avLst/>
          </a:prstGeom>
          <a:noFill/>
        </p:spPr>
        <p:txBody>
          <a:bodyPr wrap="square" lIns="18288" rIns="18288" tIns="18288" bIns="18288">
            <a:spAutoFit/>
          </a:bodyPr>
          <a:lstStyle/>
          <a:p>
            <a:pPr>
              <a:defRPr sz="1300" b="0">
                <a:solidFill>
                  <a:srgbClr val="A4B7C9"/>
                </a:solidFill>
                <a:latin typeface="Aptos"/>
              </a:defRPr>
            </a:pPr>
            <a:r>
              <a:t>Value: bring records, candidate findings, AI interpretation and recorded human decisions into one workflow.</a:t>
            </a:r>
          </a:p>
        </p:txBody>
      </p:sp>
      <p:sp>
        <p:nvSpPr>
          <p:cNvPr id="6" name="TextBox 5"/>
          <p:cNvSpPr txBox="1"/>
          <p:nvPr/>
        </p:nvSpPr>
        <p:spPr>
          <a:xfrm>
            <a:off x="621792" y="6537960"/>
            <a:ext cx="9144000" cy="182880"/>
          </a:xfrm>
          <a:prstGeom prst="rect">
            <a:avLst/>
          </a:prstGeom>
          <a:noFill/>
        </p:spPr>
        <p:txBody>
          <a:bodyPr wrap="square" lIns="18288" rIns="18288" tIns="18288" bIns="18288">
            <a:spAutoFit/>
          </a:bodyPr>
          <a:lstStyle/>
          <a:p>
            <a:pPr>
              <a:defRPr sz="900" b="0">
                <a:solidFill>
                  <a:srgbClr val="A4B7C9"/>
                </a:solidFill>
                <a:latin typeface="Aptos"/>
              </a:defRPr>
            </a:pPr>
            <a:r>
              <a:t>FINTECH AI  /  DIGITAL SURFERS</a:t>
            </a:r>
          </a:p>
        </p:txBody>
      </p:sp>
      <p:sp>
        <p:nvSpPr>
          <p:cNvPr id="7" name="TextBox 6"/>
          <p:cNvSpPr txBox="1"/>
          <p:nvPr/>
        </p:nvSpPr>
        <p:spPr>
          <a:xfrm>
            <a:off x="11064240" y="6510528"/>
            <a:ext cx="457200" cy="182880"/>
          </a:xfrm>
          <a:prstGeom prst="rect">
            <a:avLst/>
          </a:prstGeom>
          <a:noFill/>
        </p:spPr>
        <p:txBody>
          <a:bodyPr wrap="square" lIns="18288" rIns="18288" tIns="18288" bIns="18288">
            <a:spAutoFit/>
          </a:bodyPr>
          <a:lstStyle/>
          <a:p>
            <a:pPr algn="r">
              <a:defRPr sz="900" b="1">
                <a:solidFill>
                  <a:srgbClr val="3ADCBE"/>
                </a:solidFill>
                <a:latin typeface="Aptos"/>
              </a:defRPr>
            </a:pPr>
            <a:r>
              <a:t>5/5</a:t>
            </a:r>
          </a:p>
        </p:txBody>
      </p:sp>
      <p:sp>
        <p:nvSpPr>
          <p:cNvPr id="8" name="Rounded Rectangle 7"/>
          <p:cNvSpPr/>
          <p:nvPr/>
        </p:nvSpPr>
        <p:spPr>
          <a:xfrm>
            <a:off x="685800" y="1828800"/>
            <a:ext cx="5257800" cy="4206240"/>
          </a:xfrm>
          <a:prstGeom prst="roundRect">
            <a:avLst/>
          </a:prstGeom>
          <a:solidFill>
            <a:srgbClr val="142338"/>
          </a:solidFill>
          <a:ln>
            <a:solidFill>
              <a:srgbClr val="1423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03120"/>
            <a:ext cx="4572000" cy="274320"/>
          </a:xfrm>
          <a:prstGeom prst="rect">
            <a:avLst/>
          </a:prstGeom>
          <a:noFill/>
        </p:spPr>
        <p:txBody>
          <a:bodyPr wrap="square" lIns="18288" rIns="18288" tIns="18288" bIns="18288">
            <a:spAutoFit/>
          </a:bodyPr>
          <a:lstStyle/>
          <a:p>
            <a:pPr>
              <a:defRPr sz="1200" b="1">
                <a:solidFill>
                  <a:srgbClr val="3ADCBE"/>
                </a:solidFill>
                <a:latin typeface="Aptos"/>
              </a:defRPr>
            </a:pPr>
            <a:r>
              <a:t>DELIVERED &amp; REPRODUCIBLE</a:t>
            </a:r>
          </a:p>
        </p:txBody>
      </p:sp>
      <p:sp>
        <p:nvSpPr>
          <p:cNvPr id="10" name="TextBox 9"/>
          <p:cNvSpPr txBox="1"/>
          <p:nvPr/>
        </p:nvSpPr>
        <p:spPr>
          <a:xfrm>
            <a:off x="960120" y="2578608"/>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1" name="TextBox 10"/>
          <p:cNvSpPr txBox="1"/>
          <p:nvPr/>
        </p:nvSpPr>
        <p:spPr>
          <a:xfrm>
            <a:off x="1207008" y="2578608"/>
            <a:ext cx="4370831" cy="768096"/>
          </a:xfrm>
          <a:prstGeom prst="rect">
            <a:avLst/>
          </a:prstGeom>
          <a:noFill/>
        </p:spPr>
        <p:txBody>
          <a:bodyPr wrap="square" lIns="18288" rIns="18288" tIns="18288" bIns="18288">
            <a:spAutoFit/>
          </a:bodyPr>
          <a:lstStyle/>
          <a:p>
            <a:pPr>
              <a:defRPr sz="1400" b="0">
                <a:solidFill>
                  <a:srgbClr val="F0F6FA"/>
                </a:solidFill>
                <a:latin typeface="Aptos"/>
              </a:defRPr>
            </a:pPr>
            <a:r>
              <a:t>github.com/kwisdomk/FintechClankerz — public source; main + mbr-3 synced for demo.</a:t>
            </a:r>
          </a:p>
        </p:txBody>
      </p:sp>
      <p:sp>
        <p:nvSpPr>
          <p:cNvPr id="12" name="TextBox 11"/>
          <p:cNvSpPr txBox="1"/>
          <p:nvPr/>
        </p:nvSpPr>
        <p:spPr>
          <a:xfrm>
            <a:off x="960120" y="3328415"/>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3" name="TextBox 12"/>
          <p:cNvSpPr txBox="1"/>
          <p:nvPr/>
        </p:nvSpPr>
        <p:spPr>
          <a:xfrm>
            <a:off x="1207008" y="3328415"/>
            <a:ext cx="4370831" cy="768096"/>
          </a:xfrm>
          <a:prstGeom prst="rect">
            <a:avLst/>
          </a:prstGeom>
          <a:noFill/>
        </p:spPr>
        <p:txBody>
          <a:bodyPr wrap="square" lIns="18288" rIns="18288" tIns="18288" bIns="18288">
            <a:spAutoFit/>
          </a:bodyPr>
          <a:lstStyle/>
          <a:p>
            <a:pPr>
              <a:defRPr sz="1400" b="0">
                <a:solidFill>
                  <a:srgbClr val="F0F6FA"/>
                </a:solidFill>
                <a:latin typeface="Aptos"/>
              </a:defRPr>
            </a:pPr>
            <a:r>
              <a:t>Frontend, FastAPI, SQLite, analysis pipeline, tests, reports + synthetic CSVs.</a:t>
            </a:r>
          </a:p>
        </p:txBody>
      </p:sp>
      <p:sp>
        <p:nvSpPr>
          <p:cNvPr id="14" name="TextBox 13"/>
          <p:cNvSpPr txBox="1"/>
          <p:nvPr/>
        </p:nvSpPr>
        <p:spPr>
          <a:xfrm>
            <a:off x="960120" y="4078224"/>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5" name="TextBox 14"/>
          <p:cNvSpPr txBox="1"/>
          <p:nvPr/>
        </p:nvSpPr>
        <p:spPr>
          <a:xfrm>
            <a:off x="1207008" y="4078224"/>
            <a:ext cx="4370831" cy="768096"/>
          </a:xfrm>
          <a:prstGeom prst="rect">
            <a:avLst/>
          </a:prstGeom>
          <a:noFill/>
        </p:spPr>
        <p:txBody>
          <a:bodyPr wrap="square" lIns="18288" rIns="18288" tIns="18288" bIns="18288">
            <a:spAutoFit/>
          </a:bodyPr>
          <a:lstStyle/>
          <a:p>
            <a:pPr>
              <a:defRPr sz="1400" b="0">
                <a:solidFill>
                  <a:srgbClr val="F0F6FA"/>
                </a:solidFill>
                <a:latin typeface="Aptos"/>
              </a:defRPr>
            </a:pPr>
            <a:r>
              <a:t>Cloud + local Gemma responses verified; upload and review persist without AI.</a:t>
            </a:r>
          </a:p>
        </p:txBody>
      </p:sp>
      <p:sp>
        <p:nvSpPr>
          <p:cNvPr id="16" name="TextBox 15"/>
          <p:cNvSpPr txBox="1"/>
          <p:nvPr/>
        </p:nvSpPr>
        <p:spPr>
          <a:xfrm>
            <a:off x="960120" y="4828031"/>
            <a:ext cx="201168" cy="274320"/>
          </a:xfrm>
          <a:prstGeom prst="rect">
            <a:avLst/>
          </a:prstGeom>
          <a:noFill/>
        </p:spPr>
        <p:txBody>
          <a:bodyPr wrap="square" lIns="18288" rIns="18288" tIns="18288" bIns="18288">
            <a:spAutoFit/>
          </a:bodyPr>
          <a:lstStyle/>
          <a:p>
            <a:pPr>
              <a:defRPr sz="1600" b="1">
                <a:solidFill>
                  <a:srgbClr val="3ADCBE"/>
                </a:solidFill>
                <a:latin typeface="Aptos"/>
              </a:defRPr>
            </a:pPr>
            <a:r>
              <a:t>•</a:t>
            </a:r>
          </a:p>
        </p:txBody>
      </p:sp>
      <p:sp>
        <p:nvSpPr>
          <p:cNvPr id="17" name="TextBox 16"/>
          <p:cNvSpPr txBox="1"/>
          <p:nvPr/>
        </p:nvSpPr>
        <p:spPr>
          <a:xfrm>
            <a:off x="1207008" y="4828031"/>
            <a:ext cx="4370831" cy="768096"/>
          </a:xfrm>
          <a:prstGeom prst="rect">
            <a:avLst/>
          </a:prstGeom>
          <a:noFill/>
        </p:spPr>
        <p:txBody>
          <a:bodyPr wrap="square" lIns="18288" rIns="18288" tIns="18288" bIns="18288">
            <a:spAutoFit/>
          </a:bodyPr>
          <a:lstStyle/>
          <a:p>
            <a:pPr>
              <a:defRPr sz="1400" b="0">
                <a:solidFill>
                  <a:srgbClr val="F0F6FA"/>
                </a:solidFill>
                <a:latin typeface="Aptos"/>
              </a:defRPr>
            </a:pPr>
            <a:r>
              <a:t>Measure next: triage time and review completeness versus spreadsheets; no savings claim yet.</a:t>
            </a:r>
          </a:p>
        </p:txBody>
      </p:sp>
      <p:sp>
        <p:nvSpPr>
          <p:cNvPr id="18" name="Rounded Rectangle 17"/>
          <p:cNvSpPr/>
          <p:nvPr/>
        </p:nvSpPr>
        <p:spPr>
          <a:xfrm>
            <a:off x="6217920" y="1828800"/>
            <a:ext cx="5257800" cy="4206240"/>
          </a:xfrm>
          <a:prstGeom prst="roundRect">
            <a:avLst/>
          </a:prstGeom>
          <a:solidFill>
            <a:srgbClr val="192D43"/>
          </a:solidFill>
          <a:ln>
            <a:solidFill>
              <a:srgbClr val="192D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103120"/>
            <a:ext cx="4572000" cy="274320"/>
          </a:xfrm>
          <a:prstGeom prst="rect">
            <a:avLst/>
          </a:prstGeom>
          <a:noFill/>
        </p:spPr>
        <p:txBody>
          <a:bodyPr wrap="square" lIns="18288" rIns="18288" tIns="18288" bIns="18288">
            <a:spAutoFit/>
          </a:bodyPr>
          <a:lstStyle/>
          <a:p>
            <a:pPr>
              <a:defRPr sz="1200" b="1">
                <a:solidFill>
                  <a:srgbClr val="FFC15E"/>
                </a:solidFill>
                <a:latin typeface="Aptos"/>
              </a:defRPr>
            </a:pPr>
            <a:r>
              <a:t>LIMITATIONS &amp; NEXT DEPLOYMENT</a:t>
            </a:r>
          </a:p>
        </p:txBody>
      </p:sp>
      <p:sp>
        <p:nvSpPr>
          <p:cNvPr id="20" name="TextBox 19"/>
          <p:cNvSpPr txBox="1"/>
          <p:nvPr/>
        </p:nvSpPr>
        <p:spPr>
          <a:xfrm>
            <a:off x="6492240" y="2578608"/>
            <a:ext cx="201168" cy="274320"/>
          </a:xfrm>
          <a:prstGeom prst="rect">
            <a:avLst/>
          </a:prstGeom>
          <a:noFill/>
        </p:spPr>
        <p:txBody>
          <a:bodyPr wrap="square" lIns="18288" rIns="18288" tIns="18288" bIns="18288">
            <a:spAutoFit/>
          </a:bodyPr>
          <a:lstStyle/>
          <a:p>
            <a:pPr>
              <a:defRPr sz="1500" b="1">
                <a:solidFill>
                  <a:srgbClr val="3ADCBE"/>
                </a:solidFill>
                <a:latin typeface="Aptos"/>
              </a:defRPr>
            </a:pPr>
            <a:r>
              <a:t>•</a:t>
            </a:r>
          </a:p>
        </p:txBody>
      </p:sp>
      <p:sp>
        <p:nvSpPr>
          <p:cNvPr id="21" name="TextBox 20"/>
          <p:cNvSpPr txBox="1"/>
          <p:nvPr/>
        </p:nvSpPr>
        <p:spPr>
          <a:xfrm>
            <a:off x="6739127" y="2578608"/>
            <a:ext cx="4370831" cy="768096"/>
          </a:xfrm>
          <a:prstGeom prst="rect">
            <a:avLst/>
          </a:prstGeom>
          <a:noFill/>
        </p:spPr>
        <p:txBody>
          <a:bodyPr wrap="square" lIns="18288" rIns="18288" tIns="18288" bIns="18288">
            <a:spAutoFit/>
          </a:bodyPr>
          <a:lstStyle/>
          <a:p>
            <a:pPr>
              <a:defRPr sz="1300" b="0">
                <a:solidFill>
                  <a:srgbClr val="F0F6FA"/>
                </a:solidFill>
                <a:latin typeface="Aptos"/>
              </a:defRPr>
            </a:pPr>
            <a:r>
              <a:t>Wire the full Isolation Forest pipeline into the upload API; current live screening is duplicate rules.</a:t>
            </a:r>
          </a:p>
        </p:txBody>
      </p:sp>
      <p:sp>
        <p:nvSpPr>
          <p:cNvPr id="22" name="TextBox 21"/>
          <p:cNvSpPr txBox="1"/>
          <p:nvPr/>
        </p:nvSpPr>
        <p:spPr>
          <a:xfrm>
            <a:off x="6492240" y="3328415"/>
            <a:ext cx="201168" cy="274320"/>
          </a:xfrm>
          <a:prstGeom prst="rect">
            <a:avLst/>
          </a:prstGeom>
          <a:noFill/>
        </p:spPr>
        <p:txBody>
          <a:bodyPr wrap="square" lIns="18288" rIns="18288" tIns="18288" bIns="18288">
            <a:spAutoFit/>
          </a:bodyPr>
          <a:lstStyle/>
          <a:p>
            <a:pPr>
              <a:defRPr sz="1500" b="1">
                <a:solidFill>
                  <a:srgbClr val="3ADCBE"/>
                </a:solidFill>
                <a:latin typeface="Aptos"/>
              </a:defRPr>
            </a:pPr>
            <a:r>
              <a:t>•</a:t>
            </a:r>
          </a:p>
        </p:txBody>
      </p:sp>
      <p:sp>
        <p:nvSpPr>
          <p:cNvPr id="23" name="TextBox 22"/>
          <p:cNvSpPr txBox="1"/>
          <p:nvPr/>
        </p:nvSpPr>
        <p:spPr>
          <a:xfrm>
            <a:off x="6739127" y="3328415"/>
            <a:ext cx="4370831" cy="768096"/>
          </a:xfrm>
          <a:prstGeom prst="rect">
            <a:avLst/>
          </a:prstGeom>
          <a:noFill/>
        </p:spPr>
        <p:txBody>
          <a:bodyPr wrap="square" lIns="18288" rIns="18288" tIns="18288" bIns="18288">
            <a:spAutoFit/>
          </a:bodyPr>
          <a:lstStyle/>
          <a:p>
            <a:pPr>
              <a:defRPr sz="1300" b="0">
                <a:solidFill>
                  <a:srgbClr val="F0F6FA"/>
                </a:solidFill>
                <a:latin typeface="Aptos"/>
              </a:defRPr>
            </a:pPr>
            <a:r>
              <a:t>Add team-approved OSS license, access controls, rate limits and provider data policy.</a:t>
            </a:r>
          </a:p>
        </p:txBody>
      </p:sp>
      <p:sp>
        <p:nvSpPr>
          <p:cNvPr id="24" name="TextBox 23"/>
          <p:cNvSpPr txBox="1"/>
          <p:nvPr/>
        </p:nvSpPr>
        <p:spPr>
          <a:xfrm>
            <a:off x="6492240" y="4078224"/>
            <a:ext cx="201168" cy="274320"/>
          </a:xfrm>
          <a:prstGeom prst="rect">
            <a:avLst/>
          </a:prstGeom>
          <a:noFill/>
        </p:spPr>
        <p:txBody>
          <a:bodyPr wrap="square" lIns="18288" rIns="18288" tIns="18288" bIns="18288">
            <a:spAutoFit/>
          </a:bodyPr>
          <a:lstStyle/>
          <a:p>
            <a:pPr>
              <a:defRPr sz="1500" b="1">
                <a:solidFill>
                  <a:srgbClr val="3ADCBE"/>
                </a:solidFill>
                <a:latin typeface="Aptos"/>
              </a:defRPr>
            </a:pPr>
            <a:r>
              <a:t>•</a:t>
            </a:r>
          </a:p>
        </p:txBody>
      </p:sp>
      <p:sp>
        <p:nvSpPr>
          <p:cNvPr id="25" name="TextBox 24"/>
          <p:cNvSpPr txBox="1"/>
          <p:nvPr/>
        </p:nvSpPr>
        <p:spPr>
          <a:xfrm>
            <a:off x="6739127" y="4078224"/>
            <a:ext cx="4370831" cy="768096"/>
          </a:xfrm>
          <a:prstGeom prst="rect">
            <a:avLst/>
          </a:prstGeom>
          <a:noFill/>
        </p:spPr>
        <p:txBody>
          <a:bodyPr wrap="square" lIns="18288" rIns="18288" tIns="18288" bIns="18288">
            <a:spAutoFit/>
          </a:bodyPr>
          <a:lstStyle/>
          <a:p>
            <a:pPr>
              <a:defRPr sz="1300" b="0">
                <a:solidFill>
                  <a:srgbClr val="F0F6FA"/>
                </a:solidFill>
                <a:latin typeface="Aptos"/>
              </a:defRPr>
            </a:pPr>
            <a:r>
              <a:t>DigitalOcean GPU + private Ollama: researched, NOT deployed. RTX 4000 Ada 20GB is a candidate to benchmark.</a:t>
            </a:r>
          </a:p>
        </p:txBody>
      </p:sp>
      <p:sp>
        <p:nvSpPr>
          <p:cNvPr id="26" name="TextBox 25"/>
          <p:cNvSpPr txBox="1"/>
          <p:nvPr/>
        </p:nvSpPr>
        <p:spPr>
          <a:xfrm>
            <a:off x="6492240" y="4828031"/>
            <a:ext cx="201168" cy="274320"/>
          </a:xfrm>
          <a:prstGeom prst="rect">
            <a:avLst/>
          </a:prstGeom>
          <a:noFill/>
        </p:spPr>
        <p:txBody>
          <a:bodyPr wrap="square" lIns="18288" rIns="18288" tIns="18288" bIns="18288">
            <a:spAutoFit/>
          </a:bodyPr>
          <a:lstStyle/>
          <a:p>
            <a:pPr>
              <a:defRPr sz="1500" b="1">
                <a:solidFill>
                  <a:srgbClr val="3ADCBE"/>
                </a:solidFill>
                <a:latin typeface="Aptos"/>
              </a:defRPr>
            </a:pPr>
            <a:r>
              <a:t>•</a:t>
            </a:r>
          </a:p>
        </p:txBody>
      </p:sp>
      <p:sp>
        <p:nvSpPr>
          <p:cNvPr id="27" name="TextBox 26"/>
          <p:cNvSpPr txBox="1"/>
          <p:nvPr/>
        </p:nvSpPr>
        <p:spPr>
          <a:xfrm>
            <a:off x="6739127" y="4828031"/>
            <a:ext cx="4370831" cy="768096"/>
          </a:xfrm>
          <a:prstGeom prst="rect">
            <a:avLst/>
          </a:prstGeom>
          <a:noFill/>
        </p:spPr>
        <p:txBody>
          <a:bodyPr wrap="square" lIns="18288" rIns="18288" tIns="18288" bIns="18288">
            <a:spAutoFit/>
          </a:bodyPr>
          <a:lstStyle/>
          <a:p>
            <a:pPr>
              <a:defRPr sz="1300" b="0">
                <a:solidFill>
                  <a:srgbClr val="F0F6FA"/>
                </a:solidFill>
                <a:latin typeface="Aptos"/>
              </a:defRPr>
            </a:pPr>
            <a:r>
              <a:t>Demo is temporarily unauthenticated; synthetic records only. Cloud Explain sends evidence to Google.</a:t>
            </a:r>
          </a:p>
        </p:txBody>
      </p:sp>
      <p:sp>
        <p:nvSpPr>
          <p:cNvPr id="28" name="TextBox 27"/>
          <p:cNvSpPr txBox="1"/>
          <p:nvPr/>
        </p:nvSpPr>
        <p:spPr>
          <a:xfrm>
            <a:off x="749808" y="6172200"/>
            <a:ext cx="10789920" cy="210312"/>
          </a:xfrm>
          <a:prstGeom prst="rect">
            <a:avLst/>
          </a:prstGeom>
          <a:noFill/>
        </p:spPr>
        <p:txBody>
          <a:bodyPr wrap="square" lIns="18288" rIns="18288" tIns="18288" bIns="18288">
            <a:spAutoFit/>
          </a:bodyPr>
          <a:lstStyle/>
          <a:p>
            <a:pPr>
              <a:defRPr sz="900" b="0">
                <a:solidFill>
                  <a:srgbClr val="A4B7C9"/>
                </a:solidFill>
                <a:latin typeface="Aptos"/>
              </a:defRPr>
            </a:pPr>
            <a:r>
              <a:t>Cloud hosting today: Google AI Studio. Local inference today: developer machine + tunnel. DO research: digitalocean.com/products/gpu-droplets. Stop public access after the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FINTECH AI — Digital Surfers: Financial Audit Investigation MVP</dc:title>
  <dc:subject>Five-minute, five-slide MVP: problem, workflow, cloud/local Gemma, live demo, impact and public-source evidence</dc:subject>
  <dc:creator>FINTECH AI / Digital Surfers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