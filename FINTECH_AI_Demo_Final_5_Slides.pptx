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 Good day. We are Digital Surfers and this is FINTECH AI. Finance teams need to find transactions worth checking and record what happens next. This is not just for banks. Ten potential customer categories are retailers, e-commerce businesses, restaurants and hotels, logistics firms, schools, hospitals, NGOs, construction companies, manufacturers, and accounting or audit firms. Examples include supplier invoices, procurement and contractor payments. These are potential use cases, not ten deployed customers. Our initial users are auditors and finance-control teams. We assist investigations, not determine fraud.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0:45–1:40 | The workflow is import, screen, explain and review. A CSV upload saves accepted transactions and reports rejected rows. Deterministic checks flag repeated references or matching supplier, amount and date. These are possible duplicates, not proof. Gemma interprets the supplied context; the backend preserves server-owned evidence. The auditor confirms, dismisses or selects needs_review. The API stores decision, reviewer, notes and timestamp. Inference failure does not block CSV processing or human review. Re-uploading a file appends data, so do not retry blindly.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1:40–2:40 | Next.js and React proxy requests to FastAPI, Pydantic, HTTPX and SQLite. The application Explain action is configured for Google AI Studio model gemma-4-26b-a4b-it. A separate local Ollama model, gemma4:latest, is 7.5B Q4_K_M with about 6.6 GB of weights. Both inference paths were verified publicly. Local-only, cloud-only and local-then-cloud provider selection are supported. Cloud use sends transaction context and evidence to Google; credentials stay in ignored server-side .env. Seven backend/SDK tests passed, the SDK wheel built and the frontend TypeScript check passed. A separate Pandas/Isolation Forest sample reported 100 accepted rows, 6 possible duplicate rows and 34 anomaly rows; these are sample counts, not a performance benchmark. The full pipeline is not yet invoked by upload.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2:40–4:10 | Open https://first-reseller-flows-statutes.trycloudflare.com/dashboard. Upload demo-data/01_mixed_office_transactions.csv: 20 valid synthetic office expenses. Open Anomalies &amp; AI and select an office-furniture or maintenance candidate. Show evidence, request Explain, then save a human review and refresh. If the UI lacks a control, use Swagger at https://first-reseller-flows-statutes.trycloudflare.com/backend/docs with an actual finding ID. File 02_mixed_retail_transactions.csv has 20 valid retail rows. File 03_mixed_projects_with_validation.csv has 16 valid and 4 deliberately invalid rows. Files are downloadable under /demo-data/ on the same host. Direct local generation is POST /ollama/api/generate with model gemma4:latest, prompt, stream=false and think=false; it is distinct from persisted audit explanations. Prior short local/cloud requests took roughly 18/35 seconds, not an SLA. If AI is slow, show evidence and saved review instead. Temporary tunnel, unauthenticated synthetic demo only; do not claim this hostname is permanent.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4:10–5:00 | Our deliverable is traceable review, not an unmeasured promise of fraud accuracy or time savings. The code now has an MIT license. Others can clone github.com/kwisdomk/FintechClankerz and install the SDK with pip install ./sdk/python. API version 0.4.0 provides typed OpenAPI 3.1 responses and operation IDs, live Swagger and ReDoc, and an exported docs/openapi.json. docs/INTEGRATION.md has Python, JavaScript and curl examples plus error and CORS guidance; CONTRIBUTING.md supports contributions. Model licenses and hosted-provider terms remain separate. Next: full pipeline hookup, authentication, rate limits, tenant isolation and currency/date hardening. DigitalOcean GPU hosting is researched, not deployed; a 20 GB GPU is a candidate to benchmark. Evaluate triage time and review completeness with users. Close: evidence first, AI assistance second, human judgment always.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irst-reseller-flows-statutes.trycloudflare.com/dashboard"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FINANCIAL AUDIT MVP</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Find the signal. Keep the auditor in control.</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FINTECH AI — Digital Surfers | Evidence-led investigation of unusual financial transactions</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1/5</a:t>
            </a:r>
          </a:p>
        </p:txBody>
      </p:sp>
      <p:sp>
        <p:nvSpPr>
          <p:cNvPr id="8" name="Rounded Rectangle 7"/>
          <p:cNvSpPr/>
          <p:nvPr/>
        </p:nvSpPr>
        <p:spPr>
          <a:xfrm>
            <a:off x="685800" y="1874519"/>
            <a:ext cx="5257800" cy="406908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48840"/>
            <a:ext cx="4572000" cy="274320"/>
          </a:xfrm>
          <a:prstGeom prst="rect">
            <a:avLst/>
          </a:prstGeom>
          <a:noFill/>
        </p:spPr>
        <p:txBody>
          <a:bodyPr wrap="square" lIns="18288" rIns="18288" tIns="18288" bIns="18288">
            <a:spAutoFit/>
          </a:bodyPr>
          <a:lstStyle/>
          <a:p>
            <a:pPr>
              <a:defRPr sz="1300" b="1">
                <a:solidFill>
                  <a:srgbClr val="FFC15E"/>
                </a:solidFill>
                <a:latin typeface="Aptos"/>
              </a:defRPr>
            </a:pPr>
            <a:r>
              <a:t>THE PROBLEM</a:t>
            </a:r>
          </a:p>
        </p:txBody>
      </p:sp>
      <p:sp>
        <p:nvSpPr>
          <p:cNvPr id="10" name="TextBox 9"/>
          <p:cNvSpPr txBox="1"/>
          <p:nvPr/>
        </p:nvSpPr>
        <p:spPr>
          <a:xfrm>
            <a:off x="960120" y="2697480"/>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11" name="TextBox 10"/>
          <p:cNvSpPr txBox="1"/>
          <p:nvPr/>
        </p:nvSpPr>
        <p:spPr>
          <a:xfrm>
            <a:off x="1207008" y="2697480"/>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High-volume transaction spreadsheets make unusual items hard to spot.</a:t>
            </a:r>
          </a:p>
        </p:txBody>
      </p:sp>
      <p:sp>
        <p:nvSpPr>
          <p:cNvPr id="12" name="TextBox 11"/>
          <p:cNvSpPr txBox="1"/>
          <p:nvPr/>
        </p:nvSpPr>
        <p:spPr>
          <a:xfrm>
            <a:off x="960120" y="3502152"/>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13" name="TextBox 12"/>
          <p:cNvSpPr txBox="1"/>
          <p:nvPr/>
        </p:nvSpPr>
        <p:spPr>
          <a:xfrm>
            <a:off x="1207008" y="3502152"/>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A raw anomaly flag lacks context and follow-up evidence.</a:t>
            </a:r>
          </a:p>
        </p:txBody>
      </p:sp>
      <p:sp>
        <p:nvSpPr>
          <p:cNvPr id="14" name="TextBox 13"/>
          <p:cNvSpPr txBox="1"/>
          <p:nvPr/>
        </p:nvSpPr>
        <p:spPr>
          <a:xfrm>
            <a:off x="960120" y="4306824"/>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15" name="TextBox 14"/>
          <p:cNvSpPr txBox="1"/>
          <p:nvPr/>
        </p:nvSpPr>
        <p:spPr>
          <a:xfrm>
            <a:off x="1207008" y="4306824"/>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Review decisions and investigation history need a consistent record.</a:t>
            </a:r>
          </a:p>
        </p:txBody>
      </p:sp>
      <p:sp>
        <p:nvSpPr>
          <p:cNvPr id="16" name="Rounded Rectangle 15"/>
          <p:cNvSpPr/>
          <p:nvPr/>
        </p:nvSpPr>
        <p:spPr>
          <a:xfrm>
            <a:off x="6217920" y="1874519"/>
            <a:ext cx="5257800" cy="406908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148840"/>
            <a:ext cx="4572000" cy="274320"/>
          </a:xfrm>
          <a:prstGeom prst="rect">
            <a:avLst/>
          </a:prstGeom>
          <a:noFill/>
        </p:spPr>
        <p:txBody>
          <a:bodyPr wrap="square" lIns="18288" rIns="18288" tIns="18288" bIns="18288">
            <a:spAutoFit/>
          </a:bodyPr>
          <a:lstStyle/>
          <a:p>
            <a:pPr>
              <a:defRPr sz="1300" b="1">
                <a:solidFill>
                  <a:srgbClr val="3ADCBE"/>
                </a:solidFill>
                <a:latin typeface="Aptos"/>
              </a:defRPr>
            </a:pPr>
            <a:r>
              <a:t>BEYOND BANKS: 10 BUSINESS CATEGORIES</a:t>
            </a:r>
          </a:p>
        </p:txBody>
      </p:sp>
      <p:sp>
        <p:nvSpPr>
          <p:cNvPr id="18" name="TextBox 17"/>
          <p:cNvSpPr txBox="1"/>
          <p:nvPr/>
        </p:nvSpPr>
        <p:spPr>
          <a:xfrm>
            <a:off x="6492240" y="2651760"/>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9" name="TextBox 18"/>
          <p:cNvSpPr txBox="1"/>
          <p:nvPr/>
        </p:nvSpPr>
        <p:spPr>
          <a:xfrm>
            <a:off x="6739127" y="2651760"/>
            <a:ext cx="4370831" cy="530352"/>
          </a:xfrm>
          <a:prstGeom prst="rect">
            <a:avLst/>
          </a:prstGeom>
          <a:noFill/>
        </p:spPr>
        <p:txBody>
          <a:bodyPr wrap="square" lIns="18288" rIns="18288" tIns="18288" bIns="18288">
            <a:spAutoFit/>
          </a:bodyPr>
          <a:lstStyle/>
          <a:p>
            <a:pPr>
              <a:defRPr sz="1400" b="0">
                <a:solidFill>
                  <a:srgbClr val="F0F6FA"/>
                </a:solidFill>
                <a:latin typeface="Aptos"/>
              </a:defRPr>
            </a:pPr>
            <a:r>
              <a:t>Retail + e-commerce: supplier / fulfilment payments</a:t>
            </a:r>
          </a:p>
        </p:txBody>
      </p:sp>
      <p:sp>
        <p:nvSpPr>
          <p:cNvPr id="20" name="TextBox 19"/>
          <p:cNvSpPr txBox="1"/>
          <p:nvPr/>
        </p:nvSpPr>
        <p:spPr>
          <a:xfrm>
            <a:off x="6492240" y="3163824"/>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1" name="TextBox 20"/>
          <p:cNvSpPr txBox="1"/>
          <p:nvPr/>
        </p:nvSpPr>
        <p:spPr>
          <a:xfrm>
            <a:off x="6739127" y="3163824"/>
            <a:ext cx="4370831" cy="530352"/>
          </a:xfrm>
          <a:prstGeom prst="rect">
            <a:avLst/>
          </a:prstGeom>
          <a:noFill/>
        </p:spPr>
        <p:txBody>
          <a:bodyPr wrap="square" lIns="18288" rIns="18288" tIns="18288" bIns="18288">
            <a:spAutoFit/>
          </a:bodyPr>
          <a:lstStyle/>
          <a:p>
            <a:pPr>
              <a:defRPr sz="1400" b="0">
                <a:solidFill>
                  <a:srgbClr val="F0F6FA"/>
                </a:solidFill>
                <a:latin typeface="Aptos"/>
              </a:defRPr>
            </a:pPr>
            <a:r>
              <a:t>Restaurants / hotels + logistics: operating expenses</a:t>
            </a:r>
          </a:p>
        </p:txBody>
      </p:sp>
      <p:sp>
        <p:nvSpPr>
          <p:cNvPr id="22" name="TextBox 21"/>
          <p:cNvSpPr txBox="1"/>
          <p:nvPr/>
        </p:nvSpPr>
        <p:spPr>
          <a:xfrm>
            <a:off x="6492240" y="3675887"/>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3" name="TextBox 22"/>
          <p:cNvSpPr txBox="1"/>
          <p:nvPr/>
        </p:nvSpPr>
        <p:spPr>
          <a:xfrm>
            <a:off x="6739127" y="3675887"/>
            <a:ext cx="4370831" cy="530352"/>
          </a:xfrm>
          <a:prstGeom prst="rect">
            <a:avLst/>
          </a:prstGeom>
          <a:noFill/>
        </p:spPr>
        <p:txBody>
          <a:bodyPr wrap="square" lIns="18288" rIns="18288" tIns="18288" bIns="18288">
            <a:spAutoFit/>
          </a:bodyPr>
          <a:lstStyle/>
          <a:p>
            <a:pPr>
              <a:defRPr sz="1400" b="0">
                <a:solidFill>
                  <a:srgbClr val="F0F6FA"/>
                </a:solidFill>
                <a:latin typeface="Aptos"/>
              </a:defRPr>
            </a:pPr>
            <a:r>
              <a:t>Schools + hospitals: procurement invoices</a:t>
            </a:r>
          </a:p>
        </p:txBody>
      </p:sp>
      <p:sp>
        <p:nvSpPr>
          <p:cNvPr id="24" name="TextBox 23"/>
          <p:cNvSpPr txBox="1"/>
          <p:nvPr/>
        </p:nvSpPr>
        <p:spPr>
          <a:xfrm>
            <a:off x="6492240" y="4187952"/>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5" name="TextBox 24"/>
          <p:cNvSpPr txBox="1"/>
          <p:nvPr/>
        </p:nvSpPr>
        <p:spPr>
          <a:xfrm>
            <a:off x="6739127" y="4187952"/>
            <a:ext cx="4370831" cy="530352"/>
          </a:xfrm>
          <a:prstGeom prst="rect">
            <a:avLst/>
          </a:prstGeom>
          <a:noFill/>
        </p:spPr>
        <p:txBody>
          <a:bodyPr wrap="square" lIns="18288" rIns="18288" tIns="18288" bIns="18288">
            <a:spAutoFit/>
          </a:bodyPr>
          <a:lstStyle/>
          <a:p>
            <a:pPr>
              <a:defRPr sz="1400" b="0">
                <a:solidFill>
                  <a:srgbClr val="F0F6FA"/>
                </a:solidFill>
                <a:latin typeface="Aptos"/>
              </a:defRPr>
            </a:pPr>
            <a:r>
              <a:t>NGOs + construction: project / contractor costs</a:t>
            </a:r>
          </a:p>
        </p:txBody>
      </p:sp>
      <p:sp>
        <p:nvSpPr>
          <p:cNvPr id="26" name="TextBox 25"/>
          <p:cNvSpPr txBox="1"/>
          <p:nvPr/>
        </p:nvSpPr>
        <p:spPr>
          <a:xfrm>
            <a:off x="6492240" y="4700016"/>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7" name="TextBox 26"/>
          <p:cNvSpPr txBox="1"/>
          <p:nvPr/>
        </p:nvSpPr>
        <p:spPr>
          <a:xfrm>
            <a:off x="6739127" y="4700016"/>
            <a:ext cx="4370831" cy="530352"/>
          </a:xfrm>
          <a:prstGeom prst="rect">
            <a:avLst/>
          </a:prstGeom>
          <a:noFill/>
        </p:spPr>
        <p:txBody>
          <a:bodyPr wrap="square" lIns="18288" rIns="18288" tIns="18288" bIns="18288">
            <a:spAutoFit/>
          </a:bodyPr>
          <a:lstStyle/>
          <a:p>
            <a:pPr>
              <a:defRPr sz="1400" b="0">
                <a:solidFill>
                  <a:srgbClr val="F0F6FA"/>
                </a:solidFill>
                <a:latin typeface="Aptos"/>
              </a:defRPr>
            </a:pPr>
            <a:r>
              <a:t>Manufacturers + audit firms: vendor / client review</a:t>
            </a:r>
          </a:p>
        </p:txBody>
      </p:sp>
      <p:sp>
        <p:nvSpPr>
          <p:cNvPr id="28" name="TextBox 27"/>
          <p:cNvSpPr txBox="1"/>
          <p:nvPr/>
        </p:nvSpPr>
        <p:spPr>
          <a:xfrm>
            <a:off x="6519672" y="5312664"/>
            <a:ext cx="4480560" cy="457200"/>
          </a:xfrm>
          <a:prstGeom prst="rect">
            <a:avLst/>
          </a:prstGeom>
          <a:noFill/>
        </p:spPr>
        <p:txBody>
          <a:bodyPr wrap="square" lIns="18288" rIns="18288" tIns="18288" bIns="18288">
            <a:spAutoFit/>
          </a:bodyPr>
          <a:lstStyle/>
          <a:p>
            <a:pPr>
              <a:defRPr sz="1200" b="0">
                <a:solidFill>
                  <a:srgbClr val="A4B7C9"/>
                </a:solidFill>
                <a:latin typeface="Aptos"/>
              </a:defRPr>
            </a:pPr>
            <a:r>
              <a:t>Users: auditors, finance-control teams and business owners.</a:t>
            </a:r>
          </a:p>
        </p:txBody>
      </p:sp>
      <p:sp>
        <p:nvSpPr>
          <p:cNvPr id="29" name="TextBox 28"/>
          <p:cNvSpPr txBox="1"/>
          <p:nvPr/>
        </p:nvSpPr>
        <p:spPr>
          <a:xfrm>
            <a:off x="960120" y="5440680"/>
            <a:ext cx="9966960" cy="365760"/>
          </a:xfrm>
          <a:prstGeom prst="rect">
            <a:avLst/>
          </a:prstGeom>
          <a:noFill/>
        </p:spPr>
        <p:txBody>
          <a:bodyPr wrap="square" lIns="18288" rIns="18288" tIns="18288" bIns="18288">
            <a:spAutoFit/>
          </a:bodyPr>
          <a:lstStyle/>
          <a:p>
            <a:pPr>
              <a:defRPr sz="1400" b="1">
                <a:solidFill>
                  <a:srgbClr val="3ADCBE"/>
                </a:solidFill>
                <a:latin typeface="Aptos"/>
              </a:defRPr>
            </a:pPr>
            <a:r>
              <a:t>AI assists investigation; it does not decide fraud or replace professional judgment.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PROPOSED SOLUTION</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Import → screen → explain → review</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Deterministic data checks work without AI. Gemma is an optional evidence-grounded explanation layer.</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2/5</a:t>
            </a:r>
          </a:p>
        </p:txBody>
      </p:sp>
      <p:sp>
        <p:nvSpPr>
          <p:cNvPr id="8" name="Rounded Rectangle 7"/>
          <p:cNvSpPr/>
          <p:nvPr/>
        </p:nvSpPr>
        <p:spPr>
          <a:xfrm>
            <a:off x="713232" y="2057400"/>
            <a:ext cx="2606040" cy="1874519"/>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01  IMPORT</a:t>
            </a:r>
          </a:p>
        </p:txBody>
      </p:sp>
      <p:sp>
        <p:nvSpPr>
          <p:cNvPr id="10" name="TextBox 9"/>
          <p:cNvSpPr txBox="1"/>
          <p:nvPr/>
        </p:nvSpPr>
        <p:spPr>
          <a:xfrm>
            <a:off x="896112"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Validate CSV rows and persist transactions.</a:t>
            </a:r>
          </a:p>
        </p:txBody>
      </p:sp>
      <p:sp>
        <p:nvSpPr>
          <p:cNvPr id="11" name="TextBox 10"/>
          <p:cNvSpPr txBox="1"/>
          <p:nvPr/>
        </p:nvSpPr>
        <p:spPr>
          <a:xfrm>
            <a:off x="3328415" y="2788920"/>
            <a:ext cx="256032" cy="320040"/>
          </a:xfrm>
          <a:prstGeom prst="rect">
            <a:avLst/>
          </a:prstGeom>
          <a:noFill/>
        </p:spPr>
        <p:txBody>
          <a:bodyPr wrap="square" lIns="18288" rIns="18288" tIns="18288" bIns="18288">
            <a:spAutoFit/>
          </a:bodyPr>
          <a:lstStyle/>
          <a:p>
            <a:pPr algn="ctr">
              <a:defRPr sz="2000" b="1">
                <a:solidFill>
                  <a:srgbClr val="3ADCBE"/>
                </a:solidFill>
                <a:latin typeface="Aptos"/>
              </a:defRPr>
            </a:pPr>
            <a:r>
              <a:t>›</a:t>
            </a:r>
          </a:p>
        </p:txBody>
      </p:sp>
      <p:sp>
        <p:nvSpPr>
          <p:cNvPr id="12" name="Rounded Rectangle 11"/>
          <p:cNvSpPr/>
          <p:nvPr/>
        </p:nvSpPr>
        <p:spPr>
          <a:xfrm>
            <a:off x="3593591" y="2057400"/>
            <a:ext cx="2606040" cy="1874519"/>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76472"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02  SCREEN</a:t>
            </a:r>
          </a:p>
        </p:txBody>
      </p:sp>
      <p:sp>
        <p:nvSpPr>
          <p:cNvPr id="14" name="TextBox 13"/>
          <p:cNvSpPr txBox="1"/>
          <p:nvPr/>
        </p:nvSpPr>
        <p:spPr>
          <a:xfrm>
            <a:off x="3776472"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Flag repeated references and supplier + amount + date matches.</a:t>
            </a:r>
          </a:p>
        </p:txBody>
      </p:sp>
      <p:sp>
        <p:nvSpPr>
          <p:cNvPr id="15" name="TextBox 14"/>
          <p:cNvSpPr txBox="1"/>
          <p:nvPr/>
        </p:nvSpPr>
        <p:spPr>
          <a:xfrm>
            <a:off x="6208775" y="2788920"/>
            <a:ext cx="256032" cy="320040"/>
          </a:xfrm>
          <a:prstGeom prst="rect">
            <a:avLst/>
          </a:prstGeom>
          <a:noFill/>
        </p:spPr>
        <p:txBody>
          <a:bodyPr wrap="square" lIns="18288" rIns="18288" tIns="18288" bIns="18288">
            <a:spAutoFit/>
          </a:bodyPr>
          <a:lstStyle/>
          <a:p>
            <a:pPr algn="ctr">
              <a:defRPr sz="2000" b="1">
                <a:solidFill>
                  <a:srgbClr val="3ADCBE"/>
                </a:solidFill>
                <a:latin typeface="Aptos"/>
              </a:defRPr>
            </a:pPr>
            <a:r>
              <a:t>›</a:t>
            </a:r>
          </a:p>
        </p:txBody>
      </p:sp>
      <p:sp>
        <p:nvSpPr>
          <p:cNvPr id="16" name="Rounded Rectangle 15"/>
          <p:cNvSpPr/>
          <p:nvPr/>
        </p:nvSpPr>
        <p:spPr>
          <a:xfrm>
            <a:off x="6473952" y="2057400"/>
            <a:ext cx="2606040" cy="1874519"/>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56832"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03  EXPLAIN</a:t>
            </a:r>
          </a:p>
        </p:txBody>
      </p:sp>
      <p:sp>
        <p:nvSpPr>
          <p:cNvPr id="18" name="TextBox 17"/>
          <p:cNvSpPr txBox="1"/>
          <p:nvPr/>
        </p:nvSpPr>
        <p:spPr>
          <a:xfrm>
            <a:off x="6656832"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Gemma interprets server-supplied evidence; no database/tool access.</a:t>
            </a:r>
          </a:p>
        </p:txBody>
      </p:sp>
      <p:sp>
        <p:nvSpPr>
          <p:cNvPr id="19" name="TextBox 18"/>
          <p:cNvSpPr txBox="1"/>
          <p:nvPr/>
        </p:nvSpPr>
        <p:spPr>
          <a:xfrm>
            <a:off x="9089136" y="2788920"/>
            <a:ext cx="256032" cy="320040"/>
          </a:xfrm>
          <a:prstGeom prst="rect">
            <a:avLst/>
          </a:prstGeom>
          <a:noFill/>
        </p:spPr>
        <p:txBody>
          <a:bodyPr wrap="square" lIns="18288" rIns="18288" tIns="18288" bIns="18288">
            <a:spAutoFit/>
          </a:bodyPr>
          <a:lstStyle/>
          <a:p>
            <a:pPr algn="ctr">
              <a:defRPr sz="2000" b="1">
                <a:solidFill>
                  <a:srgbClr val="3ADCBE"/>
                </a:solidFill>
                <a:latin typeface="Aptos"/>
              </a:defRPr>
            </a:pPr>
            <a:r>
              <a:t>›</a:t>
            </a:r>
          </a:p>
        </p:txBody>
      </p:sp>
      <p:sp>
        <p:nvSpPr>
          <p:cNvPr id="20" name="Rounded Rectangle 19"/>
          <p:cNvSpPr/>
          <p:nvPr/>
        </p:nvSpPr>
        <p:spPr>
          <a:xfrm>
            <a:off x="9354311" y="2057400"/>
            <a:ext cx="2606040" cy="1874519"/>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37191"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04  REVIEW</a:t>
            </a:r>
          </a:p>
        </p:txBody>
      </p:sp>
      <p:sp>
        <p:nvSpPr>
          <p:cNvPr id="22" name="TextBox 21"/>
          <p:cNvSpPr txBox="1"/>
          <p:nvPr/>
        </p:nvSpPr>
        <p:spPr>
          <a:xfrm>
            <a:off x="9537191"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Auditor confirms or dismisses; decision and timestamp are stored.</a:t>
            </a:r>
          </a:p>
        </p:txBody>
      </p:sp>
      <p:sp>
        <p:nvSpPr>
          <p:cNvPr id="23" name="Rounded Rectangle 22"/>
          <p:cNvSpPr/>
          <p:nvPr/>
        </p:nvSpPr>
        <p:spPr>
          <a:xfrm>
            <a:off x="713232" y="4343400"/>
            <a:ext cx="10789920" cy="1417320"/>
          </a:xfrm>
          <a:prstGeom prst="roundRect">
            <a:avLst/>
          </a:prstGeom>
          <a:solidFill>
            <a:srgbClr val="17353E"/>
          </a:solidFill>
          <a:ln>
            <a:solidFill>
              <a:srgbClr val="173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572000"/>
            <a:ext cx="10058400" cy="274320"/>
          </a:xfrm>
          <a:prstGeom prst="rect">
            <a:avLst/>
          </a:prstGeom>
          <a:noFill/>
        </p:spPr>
        <p:txBody>
          <a:bodyPr wrap="square" lIns="18288" rIns="18288" tIns="18288" bIns="18288">
            <a:spAutoFit/>
          </a:bodyPr>
          <a:lstStyle/>
          <a:p>
            <a:pPr>
              <a:defRPr sz="1200" b="1">
                <a:solidFill>
                  <a:srgbClr val="3ADCBE"/>
                </a:solidFill>
                <a:latin typeface="Aptos"/>
              </a:defRPr>
            </a:pPr>
            <a:r>
              <a:t>EVIDENCE BOUNDARY</a:t>
            </a:r>
          </a:p>
        </p:txBody>
      </p:sp>
      <p:sp>
        <p:nvSpPr>
          <p:cNvPr id="25" name="TextBox 24"/>
          <p:cNvSpPr txBox="1"/>
          <p:nvPr/>
        </p:nvSpPr>
        <p:spPr>
          <a:xfrm>
            <a:off x="960120" y="4919472"/>
            <a:ext cx="10058400" cy="594360"/>
          </a:xfrm>
          <a:prstGeom prst="rect">
            <a:avLst/>
          </a:prstGeom>
          <a:noFill/>
        </p:spPr>
        <p:txBody>
          <a:bodyPr wrap="square" lIns="18288" rIns="18288" tIns="18288" bIns="18288">
            <a:spAutoFit/>
          </a:bodyPr>
          <a:lstStyle/>
          <a:p>
            <a:pPr>
              <a:defRPr sz="1500" b="0">
                <a:solidFill>
                  <a:srgbClr val="F0F6FA"/>
                </a:solidFill>
                <a:latin typeface="Aptos"/>
              </a:defRPr>
            </a:pPr>
            <a:r>
              <a:t>Observed evidence is persisted transaction / rule output. Gemma contributes interpretation and recommended checks—not new transaction facts or financial 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IMPLEMENTATION / BOTH INFERENCE PATHS VERIFIED</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One audit API. Cloud Gemma + local Gemma.</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Next.js / React → FastAPI / Pydantic → SQLite. AI adds interpretation; deterministic screening remains independent.</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3/5</a:t>
            </a:r>
          </a:p>
        </p:txBody>
      </p:sp>
      <p:sp>
        <p:nvSpPr>
          <p:cNvPr id="8" name="Rounded Rectangle 7"/>
          <p:cNvSpPr/>
          <p:nvPr/>
        </p:nvSpPr>
        <p:spPr>
          <a:xfrm>
            <a:off x="68580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FRONTEND</a:t>
            </a:r>
          </a:p>
        </p:txBody>
      </p:sp>
      <p:sp>
        <p:nvSpPr>
          <p:cNvPr id="10" name="TextBox 9"/>
          <p:cNvSpPr txBox="1"/>
          <p:nvPr/>
        </p:nvSpPr>
        <p:spPr>
          <a:xfrm>
            <a:off x="84124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1" name="TextBox 10"/>
          <p:cNvSpPr txBox="1"/>
          <p:nvPr/>
        </p:nvSpPr>
        <p:spPr>
          <a:xfrm>
            <a:off x="1088136"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Dashboard + CSV upload</a:t>
            </a:r>
          </a:p>
        </p:txBody>
      </p:sp>
      <p:sp>
        <p:nvSpPr>
          <p:cNvPr id="12" name="TextBox 11"/>
          <p:cNvSpPr txBox="1"/>
          <p:nvPr/>
        </p:nvSpPr>
        <p:spPr>
          <a:xfrm>
            <a:off x="84124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3" name="TextBox 12"/>
          <p:cNvSpPr txBox="1"/>
          <p:nvPr/>
        </p:nvSpPr>
        <p:spPr>
          <a:xfrm>
            <a:off x="1088136"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Transactions + findings</a:t>
            </a:r>
          </a:p>
        </p:txBody>
      </p:sp>
      <p:sp>
        <p:nvSpPr>
          <p:cNvPr id="14" name="TextBox 13"/>
          <p:cNvSpPr txBox="1"/>
          <p:nvPr/>
        </p:nvSpPr>
        <p:spPr>
          <a:xfrm>
            <a:off x="84124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5" name="TextBox 14"/>
          <p:cNvSpPr txBox="1"/>
          <p:nvPr/>
        </p:nvSpPr>
        <p:spPr>
          <a:xfrm>
            <a:off x="1088136"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Same-origin API proxy</a:t>
            </a:r>
          </a:p>
        </p:txBody>
      </p:sp>
      <p:sp>
        <p:nvSpPr>
          <p:cNvPr id="16" name="Rounded Rectangle 15"/>
          <p:cNvSpPr/>
          <p:nvPr/>
        </p:nvSpPr>
        <p:spPr>
          <a:xfrm>
            <a:off x="356616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2160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API + DATABASE</a:t>
            </a:r>
          </a:p>
        </p:txBody>
      </p:sp>
      <p:sp>
        <p:nvSpPr>
          <p:cNvPr id="18" name="TextBox 17"/>
          <p:cNvSpPr txBox="1"/>
          <p:nvPr/>
        </p:nvSpPr>
        <p:spPr>
          <a:xfrm>
            <a:off x="372160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9" name="TextBox 18"/>
          <p:cNvSpPr txBox="1"/>
          <p:nvPr/>
        </p:nvSpPr>
        <p:spPr>
          <a:xfrm>
            <a:off x="3968496"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FastAPI / HTTPX / SQLite</a:t>
            </a:r>
          </a:p>
        </p:txBody>
      </p:sp>
      <p:sp>
        <p:nvSpPr>
          <p:cNvPr id="20" name="TextBox 19"/>
          <p:cNvSpPr txBox="1"/>
          <p:nvPr/>
        </p:nvSpPr>
        <p:spPr>
          <a:xfrm>
            <a:off x="372160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1" name="TextBox 20"/>
          <p:cNvSpPr txBox="1"/>
          <p:nvPr/>
        </p:nvSpPr>
        <p:spPr>
          <a:xfrm>
            <a:off x="3968496"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Transactions + findings</a:t>
            </a:r>
          </a:p>
        </p:txBody>
      </p:sp>
      <p:sp>
        <p:nvSpPr>
          <p:cNvPr id="22" name="TextBox 21"/>
          <p:cNvSpPr txBox="1"/>
          <p:nvPr/>
        </p:nvSpPr>
        <p:spPr>
          <a:xfrm>
            <a:off x="372160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3" name="TextBox 22"/>
          <p:cNvSpPr txBox="1"/>
          <p:nvPr/>
        </p:nvSpPr>
        <p:spPr>
          <a:xfrm>
            <a:off x="3968496"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Explanations + reviews</a:t>
            </a:r>
          </a:p>
        </p:txBody>
      </p:sp>
      <p:sp>
        <p:nvSpPr>
          <p:cNvPr id="24" name="Rounded Rectangle 23"/>
          <p:cNvSpPr/>
          <p:nvPr/>
        </p:nvSpPr>
        <p:spPr>
          <a:xfrm>
            <a:off x="644652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CLOUD: LIVE</a:t>
            </a:r>
          </a:p>
        </p:txBody>
      </p:sp>
      <p:sp>
        <p:nvSpPr>
          <p:cNvPr id="26" name="TextBox 25"/>
          <p:cNvSpPr txBox="1"/>
          <p:nvPr/>
        </p:nvSpPr>
        <p:spPr>
          <a:xfrm>
            <a:off x="660196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7" name="TextBox 26"/>
          <p:cNvSpPr txBox="1"/>
          <p:nvPr/>
        </p:nvSpPr>
        <p:spPr>
          <a:xfrm>
            <a:off x="6848856"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Google AI Studio</a:t>
            </a:r>
          </a:p>
        </p:txBody>
      </p:sp>
      <p:sp>
        <p:nvSpPr>
          <p:cNvPr id="28" name="TextBox 27"/>
          <p:cNvSpPr txBox="1"/>
          <p:nvPr/>
        </p:nvSpPr>
        <p:spPr>
          <a:xfrm>
            <a:off x="660196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9" name="TextBox 28"/>
          <p:cNvSpPr txBox="1"/>
          <p:nvPr/>
        </p:nvSpPr>
        <p:spPr>
          <a:xfrm>
            <a:off x="6848856"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gemma-4-26b-a4b-it</a:t>
            </a:r>
          </a:p>
        </p:txBody>
      </p:sp>
      <p:sp>
        <p:nvSpPr>
          <p:cNvPr id="30" name="TextBox 29"/>
          <p:cNvSpPr txBox="1"/>
          <p:nvPr/>
        </p:nvSpPr>
        <p:spPr>
          <a:xfrm>
            <a:off x="660196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1" name="TextBox 30"/>
          <p:cNvSpPr txBox="1"/>
          <p:nvPr/>
        </p:nvSpPr>
        <p:spPr>
          <a:xfrm>
            <a:off x="6848856"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App Explain uses cloud</a:t>
            </a:r>
          </a:p>
        </p:txBody>
      </p:sp>
      <p:sp>
        <p:nvSpPr>
          <p:cNvPr id="32" name="Rounded Rectangle 31"/>
          <p:cNvSpPr/>
          <p:nvPr/>
        </p:nvSpPr>
        <p:spPr>
          <a:xfrm>
            <a:off x="932688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8232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LOCAL: LIVE</a:t>
            </a:r>
          </a:p>
        </p:txBody>
      </p:sp>
      <p:sp>
        <p:nvSpPr>
          <p:cNvPr id="34" name="TextBox 33"/>
          <p:cNvSpPr txBox="1"/>
          <p:nvPr/>
        </p:nvSpPr>
        <p:spPr>
          <a:xfrm>
            <a:off x="948232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5" name="TextBox 34"/>
          <p:cNvSpPr txBox="1"/>
          <p:nvPr/>
        </p:nvSpPr>
        <p:spPr>
          <a:xfrm>
            <a:off x="9729215"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Ollama: gemma4:latest</a:t>
            </a:r>
          </a:p>
        </p:txBody>
      </p:sp>
      <p:sp>
        <p:nvSpPr>
          <p:cNvPr id="36" name="TextBox 35"/>
          <p:cNvSpPr txBox="1"/>
          <p:nvPr/>
        </p:nvSpPr>
        <p:spPr>
          <a:xfrm>
            <a:off x="948232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7" name="TextBox 36"/>
          <p:cNvSpPr txBox="1"/>
          <p:nvPr/>
        </p:nvSpPr>
        <p:spPr>
          <a:xfrm>
            <a:off x="9729215"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7.5B Q4_K_M / 6.6GB</a:t>
            </a:r>
          </a:p>
        </p:txBody>
      </p:sp>
      <p:sp>
        <p:nvSpPr>
          <p:cNvPr id="38" name="TextBox 37"/>
          <p:cNvSpPr txBox="1"/>
          <p:nvPr/>
        </p:nvSpPr>
        <p:spPr>
          <a:xfrm>
            <a:off x="948232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9" name="TextBox 38"/>
          <p:cNvSpPr txBox="1"/>
          <p:nvPr/>
        </p:nvSpPr>
        <p:spPr>
          <a:xfrm>
            <a:off x="9729215"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Remote /ollama API access</a:t>
            </a:r>
          </a:p>
        </p:txBody>
      </p:sp>
      <p:sp>
        <p:nvSpPr>
          <p:cNvPr id="40" name="TextBox 39"/>
          <p:cNvSpPr txBox="1"/>
          <p:nvPr/>
        </p:nvSpPr>
        <p:spPr>
          <a:xfrm>
            <a:off x="2971800" y="2880360"/>
            <a:ext cx="365760" cy="320040"/>
          </a:xfrm>
          <a:prstGeom prst="rect">
            <a:avLst/>
          </a:prstGeom>
          <a:noFill/>
        </p:spPr>
        <p:txBody>
          <a:bodyPr wrap="square" lIns="18288" rIns="18288" tIns="18288" bIns="18288">
            <a:spAutoFit/>
          </a:bodyPr>
          <a:lstStyle/>
          <a:p>
            <a:pPr algn="ctr">
              <a:defRPr sz="1900" b="1">
                <a:solidFill>
                  <a:srgbClr val="3ADCBE"/>
                </a:solidFill>
                <a:latin typeface="Aptos"/>
              </a:defRPr>
            </a:pPr>
            <a:r>
              <a:t>→</a:t>
            </a:r>
          </a:p>
        </p:txBody>
      </p:sp>
      <p:sp>
        <p:nvSpPr>
          <p:cNvPr id="41" name="TextBox 40"/>
          <p:cNvSpPr txBox="1"/>
          <p:nvPr/>
        </p:nvSpPr>
        <p:spPr>
          <a:xfrm>
            <a:off x="5852160" y="2880360"/>
            <a:ext cx="365760" cy="320040"/>
          </a:xfrm>
          <a:prstGeom prst="rect">
            <a:avLst/>
          </a:prstGeom>
          <a:noFill/>
        </p:spPr>
        <p:txBody>
          <a:bodyPr wrap="square" lIns="18288" rIns="18288" tIns="18288" bIns="18288">
            <a:spAutoFit/>
          </a:bodyPr>
          <a:lstStyle/>
          <a:p>
            <a:pPr algn="ctr">
              <a:defRPr sz="1900" b="1">
                <a:solidFill>
                  <a:srgbClr val="3ADCBE"/>
                </a:solidFill>
                <a:latin typeface="Aptos"/>
              </a:defRPr>
            </a:pPr>
            <a:r>
              <a:t>→</a:t>
            </a:r>
          </a:p>
        </p:txBody>
      </p:sp>
      <p:sp>
        <p:nvSpPr>
          <p:cNvPr id="42" name="TextBox 41"/>
          <p:cNvSpPr txBox="1"/>
          <p:nvPr/>
        </p:nvSpPr>
        <p:spPr>
          <a:xfrm>
            <a:off x="8732520" y="2880360"/>
            <a:ext cx="365760" cy="320040"/>
          </a:xfrm>
          <a:prstGeom prst="rect">
            <a:avLst/>
          </a:prstGeom>
          <a:noFill/>
        </p:spPr>
        <p:txBody>
          <a:bodyPr wrap="square" lIns="18288" rIns="18288" tIns="18288" bIns="18288">
            <a:spAutoFit/>
          </a:bodyPr>
          <a:lstStyle/>
          <a:p>
            <a:pPr algn="ctr">
              <a:defRPr sz="1900" b="1">
                <a:solidFill>
                  <a:srgbClr val="3ADCBE"/>
                </a:solidFill>
                <a:latin typeface="Aptos"/>
              </a:defRPr>
            </a:pPr>
            <a:r>
              <a:t>→</a:t>
            </a:r>
          </a:p>
        </p:txBody>
      </p:sp>
      <p:sp>
        <p:nvSpPr>
          <p:cNvPr id="43" name="Rounded Rectangle 42"/>
          <p:cNvSpPr/>
          <p:nvPr/>
        </p:nvSpPr>
        <p:spPr>
          <a:xfrm>
            <a:off x="685800" y="4645152"/>
            <a:ext cx="10789920" cy="118872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4828032"/>
            <a:ext cx="10058400" cy="274320"/>
          </a:xfrm>
          <a:prstGeom prst="rect">
            <a:avLst/>
          </a:prstGeom>
          <a:noFill/>
        </p:spPr>
        <p:txBody>
          <a:bodyPr wrap="square" lIns="18288" rIns="18288" tIns="18288" bIns="18288">
            <a:spAutoFit/>
          </a:bodyPr>
          <a:lstStyle/>
          <a:p>
            <a:pPr>
              <a:defRPr sz="1200" b="1">
                <a:solidFill>
                  <a:srgbClr val="FFC15E"/>
                </a:solidFill>
                <a:latin typeface="Aptos"/>
              </a:defRPr>
            </a:pPr>
            <a:r>
              <a:t>REPRODUCIBLE EVIDENCE</a:t>
            </a:r>
          </a:p>
        </p:txBody>
      </p:sp>
      <p:sp>
        <p:nvSpPr>
          <p:cNvPr id="45" name="TextBox 44"/>
          <p:cNvSpPr txBox="1"/>
          <p:nvPr/>
        </p:nvSpPr>
        <p:spPr>
          <a:xfrm>
            <a:off x="932688" y="5193792"/>
            <a:ext cx="10241280" cy="457200"/>
          </a:xfrm>
          <a:prstGeom prst="rect">
            <a:avLst/>
          </a:prstGeom>
          <a:noFill/>
        </p:spPr>
        <p:txBody>
          <a:bodyPr wrap="square" lIns="18288" rIns="18288" tIns="18288" bIns="18288">
            <a:spAutoFit/>
          </a:bodyPr>
          <a:lstStyle/>
          <a:p>
            <a:pPr>
              <a:defRPr sz="1300" b="0">
                <a:solidFill>
                  <a:srgbClr val="F0F6FA"/>
                </a:solidFill>
                <a:latin typeface="Aptos"/>
              </a:defRPr>
            </a:pPr>
            <a:r>
              <a:t>7 backend / SDK tests passed • SDK wheel built • frontend TypeScript check passed • cloud + local inference verified. Separate pipeline sample: 100 accepted, 6 duplicate rows, 34 anomalies; full API hookup pending.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LIVE DEMO / 90 SECONDS</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CSV → duplicate evidence → Gemma explanation → review</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rPr>
                <a:hlinkClick r:id="rId2"/>
              </a:rPr>
              <a:t>Public app: first-reseller-flows-statutes.trycloudflare.com/dashboard</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4/5</a:t>
            </a:r>
          </a:p>
        </p:txBody>
      </p:sp>
      <p:sp>
        <p:nvSpPr>
          <p:cNvPr id="8" name="Rounded Rectangle 7"/>
          <p:cNvSpPr/>
          <p:nvPr/>
        </p:nvSpPr>
        <p:spPr>
          <a:xfrm>
            <a:off x="685800" y="1874519"/>
            <a:ext cx="5577840" cy="411480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48840"/>
            <a:ext cx="4937760" cy="274320"/>
          </a:xfrm>
          <a:prstGeom prst="rect">
            <a:avLst/>
          </a:prstGeom>
          <a:noFill/>
        </p:spPr>
        <p:txBody>
          <a:bodyPr wrap="square" lIns="18288" rIns="18288" tIns="18288" bIns="18288">
            <a:spAutoFit/>
          </a:bodyPr>
          <a:lstStyle/>
          <a:p>
            <a:pPr>
              <a:defRPr sz="1200" b="1">
                <a:solidFill>
                  <a:srgbClr val="3ADCBE"/>
                </a:solidFill>
                <a:latin typeface="Aptos"/>
              </a:defRPr>
            </a:pPr>
            <a:r>
              <a:t>SHOW THE END-TO-END FLOW</a:t>
            </a:r>
          </a:p>
        </p:txBody>
      </p:sp>
      <p:sp>
        <p:nvSpPr>
          <p:cNvPr id="10" name="TextBox 9"/>
          <p:cNvSpPr txBox="1"/>
          <p:nvPr/>
        </p:nvSpPr>
        <p:spPr>
          <a:xfrm>
            <a:off x="960120" y="2651760"/>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1" name="TextBox 10"/>
          <p:cNvSpPr txBox="1"/>
          <p:nvPr/>
        </p:nvSpPr>
        <p:spPr>
          <a:xfrm>
            <a:off x="1207008" y="2651760"/>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Upload 01_mixed_office_transactions.csv (20 valid rows).</a:t>
            </a:r>
          </a:p>
        </p:txBody>
      </p:sp>
      <p:sp>
        <p:nvSpPr>
          <p:cNvPr id="12" name="TextBox 11"/>
          <p:cNvSpPr txBox="1"/>
          <p:nvPr/>
        </p:nvSpPr>
        <p:spPr>
          <a:xfrm>
            <a:off x="960120" y="3236976"/>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3" name="TextBox 12"/>
          <p:cNvSpPr txBox="1"/>
          <p:nvPr/>
        </p:nvSpPr>
        <p:spPr>
          <a:xfrm>
            <a:off x="1207008" y="3236976"/>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Open Anomalies &amp; AI; inspect a duplicate candidate.</a:t>
            </a:r>
          </a:p>
        </p:txBody>
      </p:sp>
      <p:sp>
        <p:nvSpPr>
          <p:cNvPr id="14" name="TextBox 13"/>
          <p:cNvSpPr txBox="1"/>
          <p:nvPr/>
        </p:nvSpPr>
        <p:spPr>
          <a:xfrm>
            <a:off x="960120" y="3822191"/>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5" name="TextBox 14"/>
          <p:cNvSpPr txBox="1"/>
          <p:nvPr/>
        </p:nvSpPr>
        <p:spPr>
          <a:xfrm>
            <a:off x="1207008" y="3822191"/>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Explain: Google-hosted Gemma interprets the supplied evidence.</a:t>
            </a:r>
          </a:p>
        </p:txBody>
      </p:sp>
      <p:sp>
        <p:nvSpPr>
          <p:cNvPr id="16" name="TextBox 15"/>
          <p:cNvSpPr txBox="1"/>
          <p:nvPr/>
        </p:nvSpPr>
        <p:spPr>
          <a:xfrm>
            <a:off x="960120" y="4407408"/>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7" name="TextBox 16"/>
          <p:cNvSpPr txBox="1"/>
          <p:nvPr/>
        </p:nvSpPr>
        <p:spPr>
          <a:xfrm>
            <a:off x="1207008" y="4407408"/>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Save review; refresh to show persisted status.</a:t>
            </a:r>
          </a:p>
        </p:txBody>
      </p:sp>
      <p:sp>
        <p:nvSpPr>
          <p:cNvPr id="18" name="TextBox 17"/>
          <p:cNvSpPr txBox="1"/>
          <p:nvPr/>
        </p:nvSpPr>
        <p:spPr>
          <a:xfrm>
            <a:off x="960120" y="4992624"/>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9" name="TextBox 18"/>
          <p:cNvSpPr txBox="1"/>
          <p:nvPr/>
        </p:nvSpPr>
        <p:spPr>
          <a:xfrm>
            <a:off x="1207008" y="4992624"/>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Local model: POST /ollama/api/generate; Swagger: /backend/docs</a:t>
            </a:r>
          </a:p>
        </p:txBody>
      </p:sp>
      <p:sp>
        <p:nvSpPr>
          <p:cNvPr id="20" name="Rounded Rectangle 19"/>
          <p:cNvSpPr/>
          <p:nvPr/>
        </p:nvSpPr>
        <p:spPr>
          <a:xfrm>
            <a:off x="6537960" y="1874519"/>
            <a:ext cx="4937760" cy="411480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712" y="2148840"/>
            <a:ext cx="4389120" cy="274320"/>
          </a:xfrm>
          <a:prstGeom prst="rect">
            <a:avLst/>
          </a:prstGeom>
          <a:noFill/>
        </p:spPr>
        <p:txBody>
          <a:bodyPr wrap="square" lIns="18288" rIns="18288" tIns="18288" bIns="18288">
            <a:spAutoFit/>
          </a:bodyPr>
          <a:lstStyle/>
          <a:p>
            <a:pPr>
              <a:defRPr sz="1200" b="1">
                <a:solidFill>
                  <a:srgbClr val="FFC15E"/>
                </a:solidFill>
                <a:latin typeface="Aptos"/>
              </a:defRPr>
            </a:pPr>
            <a:r>
              <a:t>THREE SYNTHETIC DEMO FILES</a:t>
            </a:r>
          </a:p>
        </p:txBody>
      </p:sp>
      <p:sp>
        <p:nvSpPr>
          <p:cNvPr id="22" name="TextBox 21"/>
          <p:cNvSpPr txBox="1"/>
          <p:nvPr/>
        </p:nvSpPr>
        <p:spPr>
          <a:xfrm>
            <a:off x="6839712" y="2651760"/>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3" name="TextBox 22"/>
          <p:cNvSpPr txBox="1"/>
          <p:nvPr/>
        </p:nvSpPr>
        <p:spPr>
          <a:xfrm>
            <a:off x="7086600" y="2651760"/>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01 Office: 20 valid rows; varied costs + duplicate candidates.</a:t>
            </a:r>
          </a:p>
        </p:txBody>
      </p:sp>
      <p:sp>
        <p:nvSpPr>
          <p:cNvPr id="24" name="TextBox 23"/>
          <p:cNvSpPr txBox="1"/>
          <p:nvPr/>
        </p:nvSpPr>
        <p:spPr>
          <a:xfrm>
            <a:off x="6839712" y="3355848"/>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5" name="TextBox 24"/>
          <p:cNvSpPr txBox="1"/>
          <p:nvPr/>
        </p:nvSpPr>
        <p:spPr>
          <a:xfrm>
            <a:off x="7086600" y="3355848"/>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02 Retail: 20 valid rows; inventory, logistics + duplicates.</a:t>
            </a:r>
          </a:p>
        </p:txBody>
      </p:sp>
      <p:sp>
        <p:nvSpPr>
          <p:cNvPr id="26" name="TextBox 25"/>
          <p:cNvSpPr txBox="1"/>
          <p:nvPr/>
        </p:nvSpPr>
        <p:spPr>
          <a:xfrm>
            <a:off x="6839712" y="4059935"/>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7" name="TextBox 26"/>
          <p:cNvSpPr txBox="1"/>
          <p:nvPr/>
        </p:nvSpPr>
        <p:spPr>
          <a:xfrm>
            <a:off x="7086600" y="4059935"/>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03 Projects: 16 valid + 4 invalid rows; demonstrate rejection reporting.</a:t>
            </a:r>
          </a:p>
        </p:txBody>
      </p:sp>
      <p:sp>
        <p:nvSpPr>
          <p:cNvPr id="28" name="TextBox 27"/>
          <p:cNvSpPr txBox="1"/>
          <p:nvPr/>
        </p:nvSpPr>
        <p:spPr>
          <a:xfrm>
            <a:off x="6839712" y="4764024"/>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9" name="TextBox 28"/>
          <p:cNvSpPr txBox="1"/>
          <p:nvPr/>
        </p:nvSpPr>
        <p:spPr>
          <a:xfrm>
            <a:off x="7086600" y="4764024"/>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Large payment ≠ fraud. Same-value invoices may be legitimate; auditor checks.</a:t>
            </a:r>
          </a:p>
        </p:txBody>
      </p:sp>
      <p:sp>
        <p:nvSpPr>
          <p:cNvPr id="30" name="TextBox 29"/>
          <p:cNvSpPr txBox="1"/>
          <p:nvPr/>
        </p:nvSpPr>
        <p:spPr>
          <a:xfrm>
            <a:off x="960120" y="6126480"/>
            <a:ext cx="10241280" cy="228600"/>
          </a:xfrm>
          <a:prstGeom prst="rect">
            <a:avLst/>
          </a:prstGeom>
          <a:noFill/>
        </p:spPr>
        <p:txBody>
          <a:bodyPr wrap="square" lIns="18288" rIns="18288" tIns="18288" bIns="18288">
            <a:spAutoFit/>
          </a:bodyPr>
          <a:lstStyle/>
          <a:p>
            <a:pPr>
              <a:defRPr sz="1000" b="0">
                <a:solidFill>
                  <a:srgbClr val="A4B7C9"/>
                </a:solidFill>
                <a:latin typeface="Aptos"/>
              </a:defRPr>
            </a:pPr>
            <a:r>
              <a:t>CSV downloads: /demo-data/ on the same host. Public smoke test passed upload → finding → saved review; local and cloud generation both succeeded.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MIT OPEN SOURCE / INTEGRATION / NEXT STEPS</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Built to review payments. Open for others to integrate.</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Impact target: reduce spreadsheet hunting and improve review traceability; time savings and accuracy are not yet measured.</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5/5</a:t>
            </a:r>
          </a:p>
        </p:txBody>
      </p:sp>
      <p:sp>
        <p:nvSpPr>
          <p:cNvPr id="8" name="Rounded Rectangle 7"/>
          <p:cNvSpPr/>
          <p:nvPr/>
        </p:nvSpPr>
        <p:spPr>
          <a:xfrm>
            <a:off x="685800" y="1828800"/>
            <a:ext cx="5257800" cy="42062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03120"/>
            <a:ext cx="4572000" cy="274320"/>
          </a:xfrm>
          <a:prstGeom prst="rect">
            <a:avLst/>
          </a:prstGeom>
          <a:noFill/>
        </p:spPr>
        <p:txBody>
          <a:bodyPr wrap="square" lIns="18288" rIns="18288" tIns="18288" bIns="18288">
            <a:spAutoFit/>
          </a:bodyPr>
          <a:lstStyle/>
          <a:p>
            <a:pPr>
              <a:defRPr sz="1200" b="1">
                <a:solidFill>
                  <a:srgbClr val="3ADCBE"/>
                </a:solidFill>
                <a:latin typeface="Aptos"/>
              </a:defRPr>
            </a:pPr>
            <a:r>
              <a:t>DELIVERED: REUSABLE APPLICATION CODE</a:t>
            </a:r>
          </a:p>
        </p:txBody>
      </p:sp>
      <p:sp>
        <p:nvSpPr>
          <p:cNvPr id="10" name="TextBox 9"/>
          <p:cNvSpPr txBox="1"/>
          <p:nvPr/>
        </p:nvSpPr>
        <p:spPr>
          <a:xfrm>
            <a:off x="960120" y="2578608"/>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1" name="TextBox 10"/>
          <p:cNvSpPr txBox="1"/>
          <p:nvPr/>
        </p:nvSpPr>
        <p:spPr>
          <a:xfrm>
            <a:off x="1207008" y="2578608"/>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MIT LICENSE • github.com/kwisdomk/FintechClankerz • main + mbr-3.</a:t>
            </a:r>
          </a:p>
        </p:txBody>
      </p:sp>
      <p:sp>
        <p:nvSpPr>
          <p:cNvPr id="12" name="TextBox 11"/>
          <p:cNvSpPr txBox="1"/>
          <p:nvPr/>
        </p:nvSpPr>
        <p:spPr>
          <a:xfrm>
            <a:off x="960120" y="3328415"/>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3" name="TextBox 12"/>
          <p:cNvSpPr txBox="1"/>
          <p:nvPr/>
        </p:nvSpPr>
        <p:spPr>
          <a:xfrm>
            <a:off x="1207008" y="3328415"/>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API v0.4.0: typed OpenAPI 3.1 contract, Swagger / ReDoc and stable operation IDs.</a:t>
            </a:r>
          </a:p>
        </p:txBody>
      </p:sp>
      <p:sp>
        <p:nvSpPr>
          <p:cNvPr id="14" name="TextBox 13"/>
          <p:cNvSpPr txBox="1"/>
          <p:nvPr/>
        </p:nvSpPr>
        <p:spPr>
          <a:xfrm>
            <a:off x="960120" y="4078224"/>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5" name="TextBox 14"/>
          <p:cNvSpPr txBox="1"/>
          <p:nvPr/>
        </p:nvSpPr>
        <p:spPr>
          <a:xfrm>
            <a:off x="1207008" y="4078224"/>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Python SDK: pip install ./sdk/python; JavaScript + curl integration examples.</a:t>
            </a:r>
          </a:p>
        </p:txBody>
      </p:sp>
      <p:sp>
        <p:nvSpPr>
          <p:cNvPr id="16" name="TextBox 15"/>
          <p:cNvSpPr txBox="1"/>
          <p:nvPr/>
        </p:nvSpPr>
        <p:spPr>
          <a:xfrm>
            <a:off x="960120" y="4828031"/>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7" name="TextBox 16"/>
          <p:cNvSpPr txBox="1"/>
          <p:nvPr/>
        </p:nvSpPr>
        <p:spPr>
          <a:xfrm>
            <a:off x="1207008" y="4828031"/>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docs/INTEGRATION.md • docs/openapi.json • CONTRIBUTING.md • tests + synthetic data.</a:t>
            </a:r>
          </a:p>
        </p:txBody>
      </p:sp>
      <p:sp>
        <p:nvSpPr>
          <p:cNvPr id="18" name="Rounded Rectangle 17"/>
          <p:cNvSpPr/>
          <p:nvPr/>
        </p:nvSpPr>
        <p:spPr>
          <a:xfrm>
            <a:off x="6217920" y="1828800"/>
            <a:ext cx="5257800" cy="420624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103120"/>
            <a:ext cx="4572000" cy="274320"/>
          </a:xfrm>
          <a:prstGeom prst="rect">
            <a:avLst/>
          </a:prstGeom>
          <a:noFill/>
        </p:spPr>
        <p:txBody>
          <a:bodyPr wrap="square" lIns="18288" rIns="18288" tIns="18288" bIns="18288">
            <a:spAutoFit/>
          </a:bodyPr>
          <a:lstStyle/>
          <a:p>
            <a:pPr>
              <a:defRPr sz="1200" b="1">
                <a:solidFill>
                  <a:srgbClr val="FFC15E"/>
                </a:solidFill>
                <a:latin typeface="Aptos"/>
              </a:defRPr>
            </a:pPr>
            <a:r>
              <a:t>HONEST LIMITATIONS / WHAT COMES NEXT</a:t>
            </a:r>
          </a:p>
        </p:txBody>
      </p:sp>
      <p:sp>
        <p:nvSpPr>
          <p:cNvPr id="20" name="TextBox 19"/>
          <p:cNvSpPr txBox="1"/>
          <p:nvPr/>
        </p:nvSpPr>
        <p:spPr>
          <a:xfrm>
            <a:off x="6492240" y="2578608"/>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1" name="TextBox 20"/>
          <p:cNvSpPr txBox="1"/>
          <p:nvPr/>
        </p:nvSpPr>
        <p:spPr>
          <a:xfrm>
            <a:off x="6739127" y="2578608"/>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Current screening: duplicate rules. Wire full Isolation Forest pipeline into upload next.</a:t>
            </a:r>
          </a:p>
        </p:txBody>
      </p:sp>
      <p:sp>
        <p:nvSpPr>
          <p:cNvPr id="22" name="TextBox 21"/>
          <p:cNvSpPr txBox="1"/>
          <p:nvPr/>
        </p:nvSpPr>
        <p:spPr>
          <a:xfrm>
            <a:off x="6492240" y="3328415"/>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3" name="TextBox 22"/>
          <p:cNvSpPr txBox="1"/>
          <p:nvPr/>
        </p:nvSpPr>
        <p:spPr>
          <a:xfrm>
            <a:off x="6739127" y="3328415"/>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Pre-1.0 MVP: add authentication, rate limits, tenant isolation and robust currency/date handling.</a:t>
            </a:r>
          </a:p>
        </p:txBody>
      </p:sp>
      <p:sp>
        <p:nvSpPr>
          <p:cNvPr id="24" name="TextBox 23"/>
          <p:cNvSpPr txBox="1"/>
          <p:nvPr/>
        </p:nvSpPr>
        <p:spPr>
          <a:xfrm>
            <a:off x="6492240" y="4078224"/>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5" name="TextBox 24"/>
          <p:cNvSpPr txBox="1"/>
          <p:nvPr/>
        </p:nvSpPr>
        <p:spPr>
          <a:xfrm>
            <a:off x="6739127" y="4078224"/>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DigitalOcean GPU + private Ollama: researched, NOT deployed. Benchmark a 20GB GPU before committing.</a:t>
            </a:r>
          </a:p>
        </p:txBody>
      </p:sp>
      <p:sp>
        <p:nvSpPr>
          <p:cNvPr id="26" name="TextBox 25"/>
          <p:cNvSpPr txBox="1"/>
          <p:nvPr/>
        </p:nvSpPr>
        <p:spPr>
          <a:xfrm>
            <a:off x="6492240" y="4828031"/>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7" name="TextBox 26"/>
          <p:cNvSpPr txBox="1"/>
          <p:nvPr/>
        </p:nvSpPr>
        <p:spPr>
          <a:xfrm>
            <a:off x="6739127" y="4828031"/>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Synthetic public demo only. Cloud sends evidence to Google; model / provider terms are separate from MIT.</a:t>
            </a:r>
          </a:p>
        </p:txBody>
      </p:sp>
      <p:sp>
        <p:nvSpPr>
          <p:cNvPr id="28" name="TextBox 27"/>
          <p:cNvSpPr txBox="1"/>
          <p:nvPr/>
        </p:nvSpPr>
        <p:spPr>
          <a:xfrm>
            <a:off x="749808" y="6172200"/>
            <a:ext cx="10789920" cy="210312"/>
          </a:xfrm>
          <a:prstGeom prst="rect">
            <a:avLst/>
          </a:prstGeom>
          <a:noFill/>
        </p:spPr>
        <p:txBody>
          <a:bodyPr wrap="square" lIns="18288" rIns="18288" tIns="18288" bIns="18288">
            <a:spAutoFit/>
          </a:bodyPr>
          <a:lstStyle/>
          <a:p>
            <a:pPr>
              <a:defRPr sz="900" b="0">
                <a:solidFill>
                  <a:srgbClr val="A4B7C9"/>
                </a:solidFill>
                <a:latin typeface="Aptos"/>
              </a:defRPr>
            </a:pPr>
            <a:r>
              <a:t>Cloud hosting today: Google AI Studio. Local inference today: developer machine + tunnel. DO research: digitalocean.com/products/gpu-droplets. Stop public access after the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FINTECH AI — Digital Surfers: Financial Audit Investigation MVP</dc:title>
  <dc:subject>Five-minute, five-slide MVP: ten business use cases, workflow, local/cloud Gemma, live demo, MIT license and integration SDK</dc:subject>
  <dc:creator>FINTECH AI / Digital Surfers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