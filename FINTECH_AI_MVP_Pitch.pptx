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A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>
                <a:solidFill>
                  <a:srgbClr val="3ADCBE"/>
                </a:solidFill>
                <a:latin typeface="Aptos"/>
              </a:defRPr>
            </a:pPr>
            <a:r>
              <a:t>FINANCIAL AUDIT MVP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800" b="1">
                <a:solidFill>
                  <a:srgbClr val="F0F6FA"/>
                </a:solidFill>
                <a:latin typeface="Aptos"/>
              </a:defRPr>
            </a:pPr>
            <a:r>
              <a:t>Find the signal. Keep the auditor in control.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34440"/>
            <a:ext cx="109728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300" b="0">
                <a:solidFill>
                  <a:srgbClr val="A4B7C9"/>
                </a:solidFill>
                <a:latin typeface="Aptos"/>
              </a:defRPr>
            </a:pPr>
            <a:r>
              <a:t>FINTECH AI — Digital Surfers | Evidence-led investigation of unusual financial transactions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537960"/>
            <a:ext cx="91440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>
                <a:solidFill>
                  <a:srgbClr val="A4B7C9"/>
                </a:solidFill>
                <a:latin typeface="Aptos"/>
              </a:defRPr>
            </a:pPr>
            <a:r>
              <a:t>FINTECH AI  /  DIGITAL SURFERS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0528"/>
            <a:ext cx="4572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3ADCBE"/>
                </a:solidFill>
                <a:latin typeface="Aptos"/>
              </a:defRPr>
            </a:pPr>
            <a:r>
              <a:t>1/5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74519"/>
            <a:ext cx="5257800" cy="4069080"/>
          </a:xfrm>
          <a:prstGeom prst="roundRect">
            <a:avLst/>
          </a:prstGeom>
          <a:solidFill>
            <a:srgbClr val="142338"/>
          </a:solidFill>
          <a:ln>
            <a:solidFill>
              <a:srgbClr val="1423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148840"/>
            <a:ext cx="45720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300" b="1">
                <a:solidFill>
                  <a:srgbClr val="FFC15E"/>
                </a:solidFill>
                <a:latin typeface="Aptos"/>
              </a:defRPr>
            </a:pPr>
            <a:r>
              <a:t>THE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697480"/>
            <a:ext cx="201168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800" b="1">
                <a:solidFill>
                  <a:srgbClr val="3ADCBE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7008" y="2697480"/>
            <a:ext cx="4370831" cy="8229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0">
                <a:solidFill>
                  <a:srgbClr val="F0F6FA"/>
                </a:solidFill>
                <a:latin typeface="Aptos"/>
              </a:defRPr>
            </a:pPr>
            <a:r>
              <a:t>High-volume transaction spreadsheets make unusual items hard to spot.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502152"/>
            <a:ext cx="201168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800" b="1">
                <a:solidFill>
                  <a:srgbClr val="3ADCBE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8" y="3502152"/>
            <a:ext cx="4370831" cy="8229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0">
                <a:solidFill>
                  <a:srgbClr val="F0F6FA"/>
                </a:solidFill>
                <a:latin typeface="Aptos"/>
              </a:defRPr>
            </a:pPr>
            <a:r>
              <a:t>A raw anomaly flag lacks context and follow-up evidence.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306824"/>
            <a:ext cx="201168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800" b="1">
                <a:solidFill>
                  <a:srgbClr val="3ADCBE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7008" y="4306824"/>
            <a:ext cx="4370831" cy="8229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0">
                <a:solidFill>
                  <a:srgbClr val="F0F6FA"/>
                </a:solidFill>
                <a:latin typeface="Aptos"/>
              </a:defRPr>
            </a:pPr>
            <a:r>
              <a:t>Review decisions and investigation history need a consistent record.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874519"/>
            <a:ext cx="5257800" cy="4069080"/>
          </a:xfrm>
          <a:prstGeom prst="roundRect">
            <a:avLst/>
          </a:prstGeom>
          <a:solidFill>
            <a:srgbClr val="192D43"/>
          </a:solidFill>
          <a:ln>
            <a:solidFill>
              <a:srgbClr val="192D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2148840"/>
            <a:ext cx="45720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300" b="1">
                <a:solidFill>
                  <a:srgbClr val="3ADCBE"/>
                </a:solidFill>
                <a:latin typeface="Aptos"/>
              </a:defRPr>
            </a:pPr>
            <a:r>
              <a:t>INTENDED USERS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697480"/>
            <a:ext cx="201168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800" b="1">
                <a:solidFill>
                  <a:srgbClr val="3ADCBE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39127" y="2697480"/>
            <a:ext cx="4370831" cy="8229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0">
                <a:solidFill>
                  <a:srgbClr val="F0F6FA"/>
                </a:solidFill>
                <a:latin typeface="Aptos"/>
              </a:defRPr>
            </a:pPr>
            <a:r>
              <a:t>Internal / external auditors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502152"/>
            <a:ext cx="201168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800" b="1">
                <a:solidFill>
                  <a:srgbClr val="3ADCBE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39127" y="3502152"/>
            <a:ext cx="4370831" cy="8229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0">
                <a:solidFill>
                  <a:srgbClr val="F0F6FA"/>
                </a:solidFill>
                <a:latin typeface="Aptos"/>
              </a:defRPr>
            </a:pPr>
            <a:r>
              <a:t>Finance control and compliance teams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306824"/>
            <a:ext cx="201168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800" b="1">
                <a:solidFill>
                  <a:srgbClr val="3ADCBE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39127" y="4306824"/>
            <a:ext cx="4370831" cy="8229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0">
                <a:solidFill>
                  <a:srgbClr val="F0F6FA"/>
                </a:solidFill>
                <a:latin typeface="Aptos"/>
              </a:defRPr>
            </a:pPr>
            <a:r>
              <a:t>Audit leads who need a review trail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5440680"/>
            <a:ext cx="996696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3ADCBE"/>
                </a:solidFill>
                <a:latin typeface="Aptos"/>
              </a:defRPr>
            </a:pPr>
            <a:r>
              <a:t>AI assists investigation; it does not decide fraud or replace professional judgment.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A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>
                <a:solidFill>
                  <a:srgbClr val="3ADCBE"/>
                </a:solidFill>
                <a:latin typeface="Aptos"/>
              </a:defRPr>
            </a:pPr>
            <a:r>
              <a:t>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800" b="1">
                <a:solidFill>
                  <a:srgbClr val="F0F6FA"/>
                </a:solidFill>
                <a:latin typeface="Aptos"/>
              </a:defRPr>
            </a:pPr>
            <a:r>
              <a:t>Import → screen → explain →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34440"/>
            <a:ext cx="109728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300" b="0">
                <a:solidFill>
                  <a:srgbClr val="A4B7C9"/>
                </a:solidFill>
                <a:latin typeface="Aptos"/>
              </a:defRPr>
            </a:pPr>
            <a:r>
              <a:t>Deterministic data checks work without AI. Gemma is an optional evidence-grounded explanation layer.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537960"/>
            <a:ext cx="91440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>
                <a:solidFill>
                  <a:srgbClr val="A4B7C9"/>
                </a:solidFill>
                <a:latin typeface="Aptos"/>
              </a:defRPr>
            </a:pPr>
            <a:r>
              <a:t>FINTECH AI  /  DIGITAL SURFERS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0528"/>
            <a:ext cx="4572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3ADCBE"/>
                </a:solidFill>
                <a:latin typeface="Aptos"/>
              </a:defRPr>
            </a:pPr>
            <a:r>
              <a:t>2/5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057400"/>
            <a:ext cx="2606040" cy="1874519"/>
          </a:xfrm>
          <a:prstGeom prst="roundRect">
            <a:avLst/>
          </a:prstGeom>
          <a:solidFill>
            <a:srgbClr val="142338"/>
          </a:solidFill>
          <a:ln>
            <a:solidFill>
              <a:srgbClr val="1423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304288"/>
            <a:ext cx="22860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3ADCBE"/>
                </a:solidFill>
                <a:latin typeface="Aptos"/>
              </a:defRPr>
            </a:pPr>
            <a:r>
              <a:t>01  IMPORT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816352"/>
            <a:ext cx="2240280" cy="8686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0">
                <a:solidFill>
                  <a:srgbClr val="F0F6FA"/>
                </a:solidFill>
                <a:latin typeface="Aptos"/>
              </a:defRPr>
            </a:pPr>
            <a:r>
              <a:t>Validate CSV rows and persist transactions.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28415" y="2788920"/>
            <a:ext cx="256032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000" b="1">
                <a:solidFill>
                  <a:srgbClr val="3ADCBE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93591" y="2057400"/>
            <a:ext cx="2606040" cy="1874519"/>
          </a:xfrm>
          <a:prstGeom prst="roundRect">
            <a:avLst/>
          </a:prstGeom>
          <a:solidFill>
            <a:srgbClr val="192D43"/>
          </a:solidFill>
          <a:ln>
            <a:solidFill>
              <a:srgbClr val="192D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76472" y="2304288"/>
            <a:ext cx="22860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3ADCBE"/>
                </a:solidFill>
                <a:latin typeface="Aptos"/>
              </a:defRPr>
            </a:pPr>
            <a:r>
              <a:t>02  SCREEN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76472" y="2816352"/>
            <a:ext cx="2240280" cy="8686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0">
                <a:solidFill>
                  <a:srgbClr val="F0F6FA"/>
                </a:solidFill>
                <a:latin typeface="Aptos"/>
              </a:defRPr>
            </a:pPr>
            <a:r>
              <a:t>Flag repeated references and supplier + amount + date matches.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8775" y="2788920"/>
            <a:ext cx="256032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000" b="1">
                <a:solidFill>
                  <a:srgbClr val="3ADCBE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73952" y="2057400"/>
            <a:ext cx="2606040" cy="1874519"/>
          </a:xfrm>
          <a:prstGeom prst="roundRect">
            <a:avLst/>
          </a:prstGeom>
          <a:solidFill>
            <a:srgbClr val="142338"/>
          </a:solidFill>
          <a:ln>
            <a:solidFill>
              <a:srgbClr val="1423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56832" y="2304288"/>
            <a:ext cx="22860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3ADCBE"/>
                </a:solidFill>
                <a:latin typeface="Aptos"/>
              </a:defRPr>
            </a:pPr>
            <a:r>
              <a:t>03  EXPLAIN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56832" y="2816352"/>
            <a:ext cx="2240280" cy="8686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0">
                <a:solidFill>
                  <a:srgbClr val="F0F6FA"/>
                </a:solidFill>
                <a:latin typeface="Aptos"/>
              </a:defRPr>
            </a:pPr>
            <a:r>
              <a:t>Gemma interprets server-supplied evidence; no database/tool access.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89136" y="2788920"/>
            <a:ext cx="256032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2000" b="1">
                <a:solidFill>
                  <a:srgbClr val="3ADCBE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54311" y="2057400"/>
            <a:ext cx="2606040" cy="1874519"/>
          </a:xfrm>
          <a:prstGeom prst="roundRect">
            <a:avLst/>
          </a:prstGeom>
          <a:solidFill>
            <a:srgbClr val="192D43"/>
          </a:solidFill>
          <a:ln>
            <a:solidFill>
              <a:srgbClr val="192D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37191" y="2304288"/>
            <a:ext cx="22860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3ADCBE"/>
                </a:solidFill>
                <a:latin typeface="Aptos"/>
              </a:defRPr>
            </a:pPr>
            <a:r>
              <a:t>04  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37191" y="2816352"/>
            <a:ext cx="2240280" cy="8686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0">
                <a:solidFill>
                  <a:srgbClr val="F0F6FA"/>
                </a:solidFill>
                <a:latin typeface="Aptos"/>
              </a:defRPr>
            </a:pPr>
            <a:r>
              <a:t>Auditor confirms or dismisses; decision and timestamp are stored.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232" y="4343400"/>
            <a:ext cx="10789920" cy="1417320"/>
          </a:xfrm>
          <a:prstGeom prst="roundRect">
            <a:avLst/>
          </a:prstGeom>
          <a:solidFill>
            <a:srgbClr val="17353E"/>
          </a:solidFill>
          <a:ln>
            <a:solidFill>
              <a:srgbClr val="1735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4572000"/>
            <a:ext cx="100584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3ADCBE"/>
                </a:solidFill>
                <a:latin typeface="Aptos"/>
              </a:defRPr>
            </a:pPr>
            <a:r>
              <a:t>EVIDENCE BOUNDARY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919472"/>
            <a:ext cx="1005840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0">
                <a:solidFill>
                  <a:srgbClr val="F0F6FA"/>
                </a:solidFill>
                <a:latin typeface="Aptos"/>
              </a:defRPr>
            </a:pPr>
            <a:r>
              <a:t>Observed evidence is persisted transaction / rule output. Gemma contributes interpretation and recommended checks—not new transaction facts or financial actions.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A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>
                <a:solidFill>
                  <a:srgbClr val="3ADCBE"/>
                </a:solidFill>
                <a:latin typeface="Aptos"/>
              </a:defRPr>
            </a:pPr>
            <a:r>
              <a:t>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800" b="1">
                <a:solidFill>
                  <a:srgbClr val="F0F6FA"/>
                </a:solidFill>
                <a:latin typeface="Aptos"/>
              </a:defRPr>
            </a:pPr>
            <a:r>
              <a:t>The repo contains the complete MVP stack.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34440"/>
            <a:ext cx="109728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300" b="0">
                <a:solidFill>
                  <a:srgbClr val="A4B7C9"/>
                </a:solidFill>
                <a:latin typeface="Aptos"/>
              </a:defRPr>
            </a:pPr>
            <a:r>
              <a:t>Connected now: frontend → backend → SQLite → local Ollama/Gemma. The broader analysis pipeline is included; API hookup is still partial.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537960"/>
            <a:ext cx="91440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>
                <a:solidFill>
                  <a:srgbClr val="A4B7C9"/>
                </a:solidFill>
                <a:latin typeface="Aptos"/>
              </a:defRPr>
            </a:pPr>
            <a:r>
              <a:t>FINTECH AI  /  DIGITAL SURFERS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0528"/>
            <a:ext cx="4572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3ADCBE"/>
                </a:solidFill>
                <a:latin typeface="Aptos"/>
              </a:defRPr>
            </a:pPr>
            <a:r>
              <a:t>3/5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65960"/>
            <a:ext cx="2148840" cy="2377440"/>
          </a:xfrm>
          <a:prstGeom prst="roundRect">
            <a:avLst/>
          </a:prstGeom>
          <a:solidFill>
            <a:srgbClr val="142338"/>
          </a:solidFill>
          <a:ln>
            <a:solidFill>
              <a:srgbClr val="1423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2212848"/>
            <a:ext cx="1828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3ADCBE"/>
                </a:solidFill>
                <a:latin typeface="Aptos"/>
              </a:defRPr>
            </a:pPr>
            <a:r>
              <a:t>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670048"/>
            <a:ext cx="201168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3ADCBE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" y="2670048"/>
            <a:ext cx="160020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F0F6FA"/>
                </a:solidFill>
                <a:latin typeface="Aptos"/>
              </a:defRPr>
            </a:pPr>
            <a:r>
              <a:t>Next.js 16 / React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3154680"/>
            <a:ext cx="201168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3ADCBE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" y="3154680"/>
            <a:ext cx="160020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F0F6FA"/>
                </a:solidFill>
                <a:latin typeface="Aptos"/>
              </a:defRPr>
            </a:pPr>
            <a:r>
              <a:t>Dashboard, upload, registry, findings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66160" y="1965960"/>
            <a:ext cx="2148840" cy="2377440"/>
          </a:xfrm>
          <a:prstGeom prst="roundRect">
            <a:avLst/>
          </a:prstGeom>
          <a:solidFill>
            <a:srgbClr val="142338"/>
          </a:solidFill>
          <a:ln>
            <a:solidFill>
              <a:srgbClr val="1423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21608" y="2212848"/>
            <a:ext cx="1828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3ADCBE"/>
                </a:solidFill>
                <a:latin typeface="Aptos"/>
              </a:defRPr>
            </a:pPr>
            <a:r>
              <a:t>API + DB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21608" y="2670048"/>
            <a:ext cx="201168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3ADCBE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68496" y="2670048"/>
            <a:ext cx="160020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F0F6FA"/>
                </a:solidFill>
                <a:latin typeface="Aptos"/>
              </a:defRPr>
            </a:pPr>
            <a:r>
              <a:t>Python / FastAPI / Pydantic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21608" y="3154680"/>
            <a:ext cx="201168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3ADCBE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68496" y="3154680"/>
            <a:ext cx="160020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F0F6FA"/>
                </a:solidFill>
                <a:latin typeface="Aptos"/>
              </a:defRPr>
            </a:pPr>
            <a:r>
              <a:t>CSV validation + REST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21608" y="3639312"/>
            <a:ext cx="201168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3ADCBE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68496" y="3639312"/>
            <a:ext cx="160020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F0F6FA"/>
                </a:solidFill>
                <a:latin typeface="Aptos"/>
              </a:defRPr>
            </a:pPr>
            <a:r>
              <a:t>SQLite audit records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46520" y="1965960"/>
            <a:ext cx="2148840" cy="2377440"/>
          </a:xfrm>
          <a:prstGeom prst="roundRect">
            <a:avLst/>
          </a:prstGeom>
          <a:solidFill>
            <a:srgbClr val="142338"/>
          </a:solidFill>
          <a:ln>
            <a:solidFill>
              <a:srgbClr val="1423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01968" y="2212848"/>
            <a:ext cx="1828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3ADCBE"/>
                </a:solidFill>
                <a:latin typeface="Aptos"/>
              </a:defRPr>
            </a:pPr>
            <a:r>
              <a:t>DATA + AI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01968" y="2670048"/>
            <a:ext cx="201168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3ADCBE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48856" y="2670048"/>
            <a:ext cx="160020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F0F6FA"/>
                </a:solidFill>
                <a:latin typeface="Aptos"/>
              </a:defRPr>
            </a:pPr>
            <a:r>
              <a:t>Pandas / NumPy / Isolation Forest pipeline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01968" y="3154680"/>
            <a:ext cx="201168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3ADCBE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48856" y="3154680"/>
            <a:ext cx="160020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F0F6FA"/>
                </a:solidFill>
                <a:latin typeface="Aptos"/>
              </a:defRPr>
            </a:pPr>
            <a:r>
              <a:t>Deterministic duplicate rules in API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01968" y="3639312"/>
            <a:ext cx="201168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3ADCBE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48856" y="3639312"/>
            <a:ext cx="160020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F0F6FA"/>
                </a:solidFill>
                <a:latin typeface="Aptos"/>
              </a:defRPr>
            </a:pPr>
            <a:r>
              <a:t>Ollama • Gemma 4 local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326880" y="1965960"/>
            <a:ext cx="2148840" cy="2377440"/>
          </a:xfrm>
          <a:prstGeom prst="roundRect">
            <a:avLst/>
          </a:prstGeom>
          <a:solidFill>
            <a:srgbClr val="142338"/>
          </a:solidFill>
          <a:ln>
            <a:solidFill>
              <a:srgbClr val="1423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82328" y="2212848"/>
            <a:ext cx="1828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3ADCBE"/>
                </a:solidFill>
                <a:latin typeface="Aptos"/>
              </a:defRPr>
            </a:pPr>
            <a:r>
              <a:t>DEMO ACCESS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82328" y="2670048"/>
            <a:ext cx="201168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3ADCBE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29215" y="2670048"/>
            <a:ext cx="160020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F0F6FA"/>
                </a:solidFill>
                <a:latin typeface="Aptos"/>
              </a:defRPr>
            </a:pPr>
            <a:r>
              <a:t>Cloudflare Quick Tunnel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82328" y="3154680"/>
            <a:ext cx="201168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3ADCBE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29215" y="3154680"/>
            <a:ext cx="160020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F0F6FA"/>
                </a:solidFill>
                <a:latin typeface="Aptos"/>
              </a:defRPr>
            </a:pPr>
            <a:r>
              <a:t>Backend + Ollama proxy paths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82328" y="3639312"/>
            <a:ext cx="201168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3ADCBE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29215" y="3639312"/>
            <a:ext cx="160020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F0F6FA"/>
                </a:solidFill>
                <a:latin typeface="Aptos"/>
              </a:defRPr>
            </a:pPr>
            <a:r>
              <a:t>Synthetic data only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71800" y="2880360"/>
            <a:ext cx="36576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900" b="1">
                <a:solidFill>
                  <a:srgbClr val="3ADCB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52160" y="2880360"/>
            <a:ext cx="36576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900" b="1">
                <a:solidFill>
                  <a:srgbClr val="3ADCB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32520" y="2880360"/>
            <a:ext cx="36576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1900" b="1">
                <a:solidFill>
                  <a:srgbClr val="3ADCB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85800" y="4645152"/>
            <a:ext cx="10789920" cy="1188720"/>
          </a:xfrm>
          <a:prstGeom prst="roundRect">
            <a:avLst/>
          </a:prstGeom>
          <a:solidFill>
            <a:srgbClr val="192D43"/>
          </a:solidFill>
          <a:ln>
            <a:solidFill>
              <a:srgbClr val="192D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32688" y="4828032"/>
            <a:ext cx="100584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FFC15E"/>
                </a:solidFill>
                <a:latin typeface="Aptos"/>
              </a:defRPr>
            </a:pPr>
            <a:r>
              <a:t>REPRODUCIBLE EVIDENCE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2688" y="5193792"/>
            <a:ext cx="1024128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300" b="0">
                <a:solidFill>
                  <a:srgbClr val="F0F6FA"/>
                </a:solidFill>
                <a:latin typeface="Aptos"/>
              </a:defRPr>
            </a:pPr>
            <a:r>
              <a:t>100 synthetic rows accepted • pipeline reports 6 duplicate rows + 34 anomaly rows • Gemma 4 7.5B Q4_K_M • local short-prompt benchmark ≈7.1 generated tokens/sec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A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>
                <a:solidFill>
                  <a:srgbClr val="3ADCBE"/>
                </a:solidFill>
                <a:latin typeface="Aptos"/>
              </a:defRPr>
            </a:pPr>
            <a:r>
              <a:t>LIVE DEMO &amp;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800" b="1">
                <a:solidFill>
                  <a:srgbClr val="F0F6FA"/>
                </a:solidFill>
                <a:latin typeface="Aptos"/>
              </a:defRPr>
            </a:pPr>
            <a:r>
              <a:t>Follow one finding from data to human decision.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34440"/>
            <a:ext cx="109728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300" b="0">
                <a:solidFill>
                  <a:srgbClr val="A4B7C9"/>
                </a:solidFill>
                <a:latin typeface="Aptos"/>
              </a:defRPr>
            </a:pPr>
            <a:r>
              <a:t>Temporary demo URL — the link can change when the Quick Tunnel restarts.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537960"/>
            <a:ext cx="91440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>
                <a:solidFill>
                  <a:srgbClr val="A4B7C9"/>
                </a:solidFill>
                <a:latin typeface="Aptos"/>
              </a:defRPr>
            </a:pPr>
            <a:r>
              <a:t>FINTECH AI  /  DIGITAL SURFERS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0528"/>
            <a:ext cx="4572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3ADCBE"/>
                </a:solidFill>
                <a:latin typeface="Aptos"/>
              </a:defRPr>
            </a:pPr>
            <a:r>
              <a:t>4/5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74519"/>
            <a:ext cx="5577840" cy="4023360"/>
          </a:xfrm>
          <a:prstGeom prst="roundRect">
            <a:avLst/>
          </a:prstGeom>
          <a:solidFill>
            <a:srgbClr val="142338"/>
          </a:solidFill>
          <a:ln>
            <a:solidFill>
              <a:srgbClr val="1423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148840"/>
            <a:ext cx="493776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3ADCBE"/>
                </a:solidFill>
                <a:latin typeface="Aptos"/>
              </a:defRPr>
            </a:pPr>
            <a:r>
              <a:t>LIVE ENDPOINTS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651760"/>
            <a:ext cx="201168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3ADCBE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7008" y="2651760"/>
            <a:ext cx="4690872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300" b="0">
                <a:solidFill>
                  <a:srgbClr val="F0F6FA"/>
                </a:solidFill>
                <a:latin typeface="Aptos"/>
              </a:defRPr>
            </a:pPr>
            <a:r>
              <a:t>App: https://skating-peak-academics-simulation.trycloudflare.com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227832"/>
            <a:ext cx="201168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3ADCBE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8" y="3227832"/>
            <a:ext cx="4690872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300" b="0">
                <a:solidFill>
                  <a:srgbClr val="F0F6FA"/>
                </a:solidFill>
                <a:latin typeface="Aptos"/>
              </a:defRPr>
            </a:pPr>
            <a:r>
              <a:t>Backend health: /backend/api/health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803904"/>
            <a:ext cx="201168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3ADCBE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7008" y="3803904"/>
            <a:ext cx="4690872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300" b="0">
                <a:solidFill>
                  <a:srgbClr val="F0F6FA"/>
                </a:solidFill>
                <a:latin typeface="Aptos"/>
              </a:defRPr>
            </a:pPr>
            <a:r>
              <a:t>Swagger: /backend/docs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379976"/>
            <a:ext cx="201168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3ADCBE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7008" y="4379976"/>
            <a:ext cx="4690872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300" b="0">
                <a:solidFill>
                  <a:srgbClr val="F0F6FA"/>
                </a:solidFill>
                <a:latin typeface="Aptos"/>
              </a:defRPr>
            </a:pPr>
            <a:r>
              <a:t>Ollama: POST /ollama/api/generate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956048"/>
            <a:ext cx="201168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500" b="1">
                <a:solidFill>
                  <a:srgbClr val="3ADCBE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8" y="4956048"/>
            <a:ext cx="4690872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300" b="0">
                <a:solidFill>
                  <a:srgbClr val="F0F6FA"/>
                </a:solidFill>
                <a:latin typeface="Aptos"/>
              </a:defRPr>
            </a:pPr>
            <a:r>
              <a:t>Findings: /api/findings → /explain → /review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7960" y="1874519"/>
            <a:ext cx="4937760" cy="4023360"/>
          </a:xfrm>
          <a:prstGeom prst="roundRect">
            <a:avLst/>
          </a:prstGeom>
          <a:solidFill>
            <a:srgbClr val="192D43"/>
          </a:solidFill>
          <a:ln>
            <a:solidFill>
              <a:srgbClr val="192D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39712" y="2148840"/>
            <a:ext cx="43891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FFC15E"/>
                </a:solidFill>
                <a:latin typeface="Aptos"/>
              </a:defRPr>
            </a:pPr>
            <a:r>
              <a:t>PROJECT IMPACT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39712" y="2651760"/>
            <a:ext cx="201168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1">
                <a:solidFill>
                  <a:srgbClr val="3ADCBE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2651760"/>
            <a:ext cx="4096512" cy="7223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0">
                <a:solidFill>
                  <a:srgbClr val="F0F6FA"/>
                </a:solidFill>
                <a:latin typeface="Aptos"/>
              </a:defRPr>
            </a:pPr>
            <a:r>
              <a:t>Reduce time spent searching spreadsheets.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39712" y="3355848"/>
            <a:ext cx="201168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1">
                <a:solidFill>
                  <a:srgbClr val="3ADCBE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86600" y="3355848"/>
            <a:ext cx="4096512" cy="7223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0">
                <a:solidFill>
                  <a:srgbClr val="F0F6FA"/>
                </a:solidFill>
                <a:latin typeface="Aptos"/>
              </a:defRPr>
            </a:pPr>
            <a:r>
              <a:t>Keep evidence, interpretation, and auditor decisions distinct.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39712" y="4059935"/>
            <a:ext cx="201168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1">
                <a:solidFill>
                  <a:srgbClr val="3ADCBE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4059935"/>
            <a:ext cx="4096512" cy="7223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0">
                <a:solidFill>
                  <a:srgbClr val="F0F6FA"/>
                </a:solidFill>
                <a:latin typeface="Aptos"/>
              </a:defRPr>
            </a:pPr>
            <a:r>
              <a:t>Local inference keeps demo records on-device.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39712" y="4764024"/>
            <a:ext cx="201168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1">
                <a:solidFill>
                  <a:srgbClr val="3ADCBE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4764024"/>
            <a:ext cx="4096512" cy="7223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0">
                <a:solidFill>
                  <a:srgbClr val="F0F6FA"/>
                </a:solidFill>
                <a:latin typeface="Aptos"/>
              </a:defRPr>
            </a:pPr>
            <a:r>
              <a:t>Impact target: measure triage time and review completeness with auditors.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5504688"/>
            <a:ext cx="100584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100" b="0">
                <a:solidFill>
                  <a:srgbClr val="A4B7C9"/>
                </a:solidFill>
                <a:latin typeface="Aptos"/>
              </a:defRPr>
            </a:pPr>
            <a:r>
              <a:t>The public demo uses synthetic records; the tunnel and model run on the developer machine.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A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1">
                <a:solidFill>
                  <a:srgbClr val="3ADCBE"/>
                </a:solidFill>
                <a:latin typeface="Aptos"/>
              </a:defRPr>
            </a:pPr>
            <a:r>
              <a:t>OPEN SOURCE + CLOUD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800" b="1">
                <a:solidFill>
                  <a:srgbClr val="F0F6FA"/>
                </a:solidFill>
                <a:latin typeface="Aptos"/>
              </a:defRPr>
            </a:pPr>
            <a:r>
              <a:t>Public code is the OSS deliverable; cloud inference is the next deployment step.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34440"/>
            <a:ext cx="109728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300" b="0">
                <a:solidFill>
                  <a:srgbClr val="A4B7C9"/>
                </a:solidFill>
                <a:latin typeface="Aptos"/>
              </a:defRPr>
            </a:pPr>
            <a:r>
              <a:t>Current deployment is local Ollama. DigitalOcean hosting is researched/planned, not provisioned or integrated yet.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537960"/>
            <a:ext cx="91440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>
                <a:solidFill>
                  <a:srgbClr val="A4B7C9"/>
                </a:solidFill>
                <a:latin typeface="Aptos"/>
              </a:defRPr>
            </a:pPr>
            <a:r>
              <a:t>FINTECH AI  /  DIGITAL SURFERS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0528"/>
            <a:ext cx="4572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900" b="1">
                <a:solidFill>
                  <a:srgbClr val="3ADCBE"/>
                </a:solidFill>
                <a:latin typeface="Aptos"/>
              </a:defRPr>
            </a:pPr>
            <a:r>
              <a:t>5/5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28800"/>
            <a:ext cx="5257800" cy="4206240"/>
          </a:xfrm>
          <a:prstGeom prst="roundRect">
            <a:avLst/>
          </a:prstGeom>
          <a:solidFill>
            <a:srgbClr val="142338"/>
          </a:solidFill>
          <a:ln>
            <a:solidFill>
              <a:srgbClr val="1423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103120"/>
            <a:ext cx="45720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3ADCBE"/>
                </a:solidFill>
                <a:latin typeface="Aptos"/>
              </a:defRPr>
            </a:pPr>
            <a:r>
              <a:t>OPEN-SOURCE EVIDENCE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578608"/>
            <a:ext cx="201168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1">
                <a:solidFill>
                  <a:srgbClr val="3ADCBE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7008" y="2578608"/>
            <a:ext cx="4370831" cy="7315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0">
                <a:solidFill>
                  <a:srgbClr val="F0F6FA"/>
                </a:solidFill>
                <a:latin typeface="Aptos"/>
              </a:defRPr>
            </a:pPr>
            <a:r>
              <a:t>Public repo: github.com/kwisdomk/FintechClankerz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291839"/>
            <a:ext cx="201168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1">
                <a:solidFill>
                  <a:srgbClr val="3ADCBE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8" y="3291839"/>
            <a:ext cx="4370831" cy="7315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0">
                <a:solidFill>
                  <a:srgbClr val="F0F6FA"/>
                </a:solidFill>
                <a:latin typeface="Aptos"/>
              </a:defRPr>
            </a:pPr>
            <a:r>
              <a:t>Main + mbr-3 include frontend, API, data pipeline, sample CSV and reports.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005072"/>
            <a:ext cx="201168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1">
                <a:solidFill>
                  <a:srgbClr val="3ADCBE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7008" y="4005072"/>
            <a:ext cx="4370831" cy="7315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0">
                <a:solidFill>
                  <a:srgbClr val="F0F6FA"/>
                </a:solidFill>
                <a:latin typeface="Aptos"/>
              </a:defRPr>
            </a:pPr>
            <a:r>
              <a:t>README documents local run and API.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718304"/>
            <a:ext cx="201168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1">
                <a:solidFill>
                  <a:srgbClr val="3ADCBE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7008" y="4718304"/>
            <a:ext cx="4370831" cy="7315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0">
                <a:solidFill>
                  <a:srgbClr val="F0F6FA"/>
                </a:solidFill>
                <a:latin typeface="Aptos"/>
              </a:defRPr>
            </a:pPr>
            <a:r>
              <a:t>Open-source license file is still needed; agree license with contributors.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828800"/>
            <a:ext cx="5257800" cy="4206240"/>
          </a:xfrm>
          <a:prstGeom prst="roundRect">
            <a:avLst/>
          </a:prstGeom>
          <a:solidFill>
            <a:srgbClr val="192D43"/>
          </a:solidFill>
          <a:ln>
            <a:solidFill>
              <a:srgbClr val="192D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2103120"/>
            <a:ext cx="45720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FFC15E"/>
                </a:solidFill>
                <a:latin typeface="Aptos"/>
              </a:defRPr>
            </a:pPr>
            <a:r>
              <a:t>DIGITALOCEAN INFERENCE PLAN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578608"/>
            <a:ext cx="201168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3ADCBE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39127" y="2578608"/>
            <a:ext cx="4370831" cy="6583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F0F6FA"/>
                </a:solidFill>
                <a:latin typeface="Aptos"/>
              </a:defRPr>
            </a:pPr>
            <a:r>
              <a:t>GPU Droplet runs Ollama + Gemma 4; keep port 11434 private.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218687"/>
            <a:ext cx="201168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3ADCBE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39127" y="3218687"/>
            <a:ext cx="4370831" cy="6583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F0F6FA"/>
                </a:solidFill>
                <a:latin typeface="Aptos"/>
              </a:defRPr>
            </a:pPr>
            <a:r>
              <a:t>API points OLLAMA_BASE_URL to private GPU IP; expose only HTTPS app/API.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3858768"/>
            <a:ext cx="201168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3ADCBE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39127" y="3858768"/>
            <a:ext cx="4370831" cy="6583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F0F6FA"/>
                </a:solidFill>
                <a:latin typeface="Aptos"/>
              </a:defRPr>
            </a:pPr>
            <a:r>
              <a:t>RTX 4000 Ada (20GB) is a plausible first test for 6.6GB Q4 model weights; benchmark context/memory.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4498848"/>
            <a:ext cx="201168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1">
                <a:solidFill>
                  <a:srgbClr val="3ADCBE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39127" y="4498848"/>
            <a:ext cx="4370831" cy="6583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F0F6FA"/>
                </a:solidFill>
                <a:latin typeface="Aptos"/>
              </a:defRPr>
            </a:pPr>
            <a:r>
              <a:t>For occasional use, start GPU for a scheduled window; persist model volume and verify compute/storage billing before stopping.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" y="6144768"/>
            <a:ext cx="10789920" cy="2103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>
                <a:solidFill>
                  <a:srgbClr val="A4B7C9"/>
                </a:solidFill>
                <a:latin typeface="Aptos"/>
              </a:defRPr>
            </a:pPr>
            <a:r>
              <a:t>DO GPU Droplets: digitalocean.com/products/gpu-droplets (listed options include RTX 4000 Ada, RTX 6000 Ada, H100/H200; pricing/region availability changes). Inference engine: Ollama.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FINTECH AI — Digital Surfers: Financial Audit Investigation MVP</dc:title>
  <dc:subject>Five-slide MVP: problem, solution, implementation, demo, impact, open-source evidence, DigitalOcean inference roadmap</dc:subject>
  <dc:creator>FINTECH AI / Digital Surfers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